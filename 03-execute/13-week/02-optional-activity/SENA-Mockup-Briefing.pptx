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074874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 Schedule Manager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57200" y="2240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 Visual del Mockup  ·  5 Pantallas MVP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2788920"/>
            <a:ext cx="4114800" cy="3657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457200" y="3017520"/>
            <a:ext cx="54864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Dashboard Principal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8AA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Calendario Semanal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8AA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Formulario de Horario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8AA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Instructores + Fichas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8AA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Ambientes + Observaciones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A7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 Nacional de Aprendizaje  ·  SENA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7772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347472" y="0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Diapositiva 1  ·  Dashboard Principal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858000" y="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Pantalla 01 / 05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960120"/>
            <a:ext cx="4160520" cy="914400"/>
          </a:xfrm>
          <a:prstGeom prst="rect">
            <a:avLst/>
          </a:prstGeom>
          <a:solidFill>
            <a:srgbClr val="F2F7FA"/>
          </a:solidFill>
          <a:ln w="12700">
            <a:solidFill>
              <a:srgbClr val="D0DC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7" name="Shape 5"/>
          <p:cNvSpPr/>
          <p:nvPr/>
        </p:nvSpPr>
        <p:spPr>
          <a:xfrm>
            <a:off x="320040" y="960120"/>
            <a:ext cx="54864" cy="9144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Shape 6"/>
          <p:cNvSpPr/>
          <p:nvPr/>
        </p:nvSpPr>
        <p:spPr>
          <a:xfrm>
            <a:off x="484632" y="1069848"/>
            <a:ext cx="384048" cy="384048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Text 7"/>
          <p:cNvSpPr/>
          <p:nvPr/>
        </p:nvSpPr>
        <p:spPr>
          <a:xfrm>
            <a:off x="484632" y="10698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41832" y="1051560"/>
            <a:ext cx="3447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Conflictos Hoy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41832" y="1289304"/>
            <a:ext cx="3447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Horarios bloqueados por colisión (últ. 24 h)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709160" y="960120"/>
            <a:ext cx="4160520" cy="914400"/>
          </a:xfrm>
          <a:prstGeom prst="rect">
            <a:avLst/>
          </a:prstGeom>
          <a:solidFill>
            <a:srgbClr val="F2F7FA"/>
          </a:solidFill>
          <a:ln w="12700">
            <a:solidFill>
              <a:srgbClr val="D0DC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3" name="Shape 11"/>
          <p:cNvSpPr/>
          <p:nvPr/>
        </p:nvSpPr>
        <p:spPr>
          <a:xfrm>
            <a:off x="4709160" y="960120"/>
            <a:ext cx="54864" cy="91440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Shape 12"/>
          <p:cNvSpPr/>
          <p:nvPr/>
        </p:nvSpPr>
        <p:spPr>
          <a:xfrm>
            <a:off x="4873752" y="1069848"/>
            <a:ext cx="384048" cy="384048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Text 13"/>
          <p:cNvSpPr/>
          <p:nvPr/>
        </p:nvSpPr>
        <p:spPr>
          <a:xfrm>
            <a:off x="4873752" y="10698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330952" y="1051560"/>
            <a:ext cx="3447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Ambientes Fuera de Servicio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330952" y="1289304"/>
            <a:ext cx="3447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Ambientes en Mantenimiento o Inactivo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20040" y="2029968"/>
            <a:ext cx="4160520" cy="914400"/>
          </a:xfrm>
          <a:prstGeom prst="rect">
            <a:avLst/>
          </a:prstGeom>
          <a:solidFill>
            <a:srgbClr val="F2F7FA"/>
          </a:solidFill>
          <a:ln w="12700">
            <a:solidFill>
              <a:srgbClr val="D0DC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9" name="Shape 17"/>
          <p:cNvSpPr/>
          <p:nvPr/>
        </p:nvSpPr>
        <p:spPr>
          <a:xfrm>
            <a:off x="320040" y="2029968"/>
            <a:ext cx="54864" cy="91440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" name="Shape 18"/>
          <p:cNvSpPr/>
          <p:nvPr/>
        </p:nvSpPr>
        <p:spPr>
          <a:xfrm>
            <a:off x="484632" y="2139696"/>
            <a:ext cx="384048" cy="384048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1" name="Text 19"/>
          <p:cNvSpPr/>
          <p:nvPr/>
        </p:nvSpPr>
        <p:spPr>
          <a:xfrm>
            <a:off x="484632" y="21396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≡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41832" y="2121408"/>
            <a:ext cx="3447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Fichas Sin Cubrir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41832" y="2359152"/>
            <a:ext cx="3447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Fichas sin todos sus horarios de la semana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709160" y="2029968"/>
            <a:ext cx="4160520" cy="914400"/>
          </a:xfrm>
          <a:prstGeom prst="rect">
            <a:avLst/>
          </a:prstGeom>
          <a:solidFill>
            <a:srgbClr val="F2F7FA"/>
          </a:solidFill>
          <a:ln w="12700">
            <a:solidFill>
              <a:srgbClr val="D0DC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5" name="Shape 23"/>
          <p:cNvSpPr/>
          <p:nvPr/>
        </p:nvSpPr>
        <p:spPr>
          <a:xfrm>
            <a:off x="4709160" y="2029968"/>
            <a:ext cx="54864" cy="914400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6" name="Shape 24"/>
          <p:cNvSpPr/>
          <p:nvPr/>
        </p:nvSpPr>
        <p:spPr>
          <a:xfrm>
            <a:off x="4873752" y="2139696"/>
            <a:ext cx="384048" cy="384048"/>
          </a:xfrm>
          <a:prstGeom prst="ellipse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7" name="Text 25"/>
          <p:cNvSpPr/>
          <p:nvPr/>
        </p:nvSpPr>
        <p:spPr>
          <a:xfrm>
            <a:off x="4873752" y="21396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330952" y="2121408"/>
            <a:ext cx="3447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Instructores al Límite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330952" y="2359152"/>
            <a:ext cx="3447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Consumieron ≥ 90% de su carga semanal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217920" y="3200400"/>
            <a:ext cx="2651760" cy="5120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31" name="Text 29"/>
          <p:cNvSpPr/>
          <p:nvPr/>
        </p:nvSpPr>
        <p:spPr>
          <a:xfrm>
            <a:off x="6217920" y="3200400"/>
            <a:ext cx="2651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Nuevo Horario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320040" y="321868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Mini-Calendario Semanal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20040" y="3566160"/>
            <a:ext cx="429768" cy="329184"/>
          </a:xfrm>
          <a:prstGeom prst="rect">
            <a:avLst/>
          </a:prstGeom>
          <a:solidFill>
            <a:srgbClr val="F2F7FA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4" name="Text 32"/>
          <p:cNvSpPr/>
          <p:nvPr/>
        </p:nvSpPr>
        <p:spPr>
          <a:xfrm>
            <a:off x="320040" y="3566160"/>
            <a:ext cx="42976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66344" y="3750503"/>
            <a:ext cx="128016" cy="128016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6" name="Shape 34"/>
          <p:cNvSpPr/>
          <p:nvPr/>
        </p:nvSpPr>
        <p:spPr>
          <a:xfrm>
            <a:off x="777240" y="3566160"/>
            <a:ext cx="429768" cy="329184"/>
          </a:xfrm>
          <a:prstGeom prst="rect">
            <a:avLst/>
          </a:prstGeom>
          <a:solidFill>
            <a:srgbClr val="F2F7FA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7" name="Text 35"/>
          <p:cNvSpPr/>
          <p:nvPr/>
        </p:nvSpPr>
        <p:spPr>
          <a:xfrm>
            <a:off x="777240" y="3566160"/>
            <a:ext cx="42976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923544" y="3750503"/>
            <a:ext cx="128016" cy="128016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9" name="Shape 37"/>
          <p:cNvSpPr/>
          <p:nvPr/>
        </p:nvSpPr>
        <p:spPr>
          <a:xfrm>
            <a:off x="1234440" y="3566160"/>
            <a:ext cx="429768" cy="329184"/>
          </a:xfrm>
          <a:prstGeom prst="rect">
            <a:avLst/>
          </a:prstGeom>
          <a:solidFill>
            <a:srgbClr val="F2F7FA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0" name="Text 38"/>
          <p:cNvSpPr/>
          <p:nvPr/>
        </p:nvSpPr>
        <p:spPr>
          <a:xfrm>
            <a:off x="1234440" y="3566160"/>
            <a:ext cx="42976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1380744" y="3750503"/>
            <a:ext cx="128016" cy="128016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2" name="Shape 40"/>
          <p:cNvSpPr/>
          <p:nvPr/>
        </p:nvSpPr>
        <p:spPr>
          <a:xfrm>
            <a:off x="1691640" y="3566160"/>
            <a:ext cx="429768" cy="329184"/>
          </a:xfrm>
          <a:prstGeom prst="rect">
            <a:avLst/>
          </a:prstGeom>
          <a:solidFill>
            <a:srgbClr val="F2F7FA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3" name="Text 41"/>
          <p:cNvSpPr/>
          <p:nvPr/>
        </p:nvSpPr>
        <p:spPr>
          <a:xfrm>
            <a:off x="1691640" y="3566160"/>
            <a:ext cx="42976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1837944" y="3750503"/>
            <a:ext cx="128016" cy="128016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5" name="Shape 43"/>
          <p:cNvSpPr/>
          <p:nvPr/>
        </p:nvSpPr>
        <p:spPr>
          <a:xfrm>
            <a:off x="2148840" y="3566160"/>
            <a:ext cx="429768" cy="329184"/>
          </a:xfrm>
          <a:prstGeom prst="rect">
            <a:avLst/>
          </a:prstGeom>
          <a:solidFill>
            <a:srgbClr val="F2F7FA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6" name="Text 44"/>
          <p:cNvSpPr/>
          <p:nvPr/>
        </p:nvSpPr>
        <p:spPr>
          <a:xfrm>
            <a:off x="2148840" y="3566160"/>
            <a:ext cx="42976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2295144" y="3750503"/>
            <a:ext cx="128016" cy="128016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8" name="Shape 46"/>
          <p:cNvSpPr/>
          <p:nvPr/>
        </p:nvSpPr>
        <p:spPr>
          <a:xfrm>
            <a:off x="2606040" y="3566160"/>
            <a:ext cx="429768" cy="329184"/>
          </a:xfrm>
          <a:prstGeom prst="rect">
            <a:avLst/>
          </a:prstGeom>
          <a:solidFill>
            <a:srgbClr val="F2F7FA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9" name="Text 47"/>
          <p:cNvSpPr/>
          <p:nvPr/>
        </p:nvSpPr>
        <p:spPr>
          <a:xfrm>
            <a:off x="2606040" y="3566160"/>
            <a:ext cx="42976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2752344" y="3750503"/>
            <a:ext cx="128016" cy="128016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1" name="Shape 49"/>
          <p:cNvSpPr/>
          <p:nvPr/>
        </p:nvSpPr>
        <p:spPr>
          <a:xfrm>
            <a:off x="3063240" y="3566160"/>
            <a:ext cx="429768" cy="329184"/>
          </a:xfrm>
          <a:prstGeom prst="rect">
            <a:avLst/>
          </a:prstGeom>
          <a:solidFill>
            <a:srgbClr val="F0F0F0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2" name="Text 50"/>
          <p:cNvSpPr/>
          <p:nvPr/>
        </p:nvSpPr>
        <p:spPr>
          <a:xfrm>
            <a:off x="3063240" y="3566160"/>
            <a:ext cx="42976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320040" y="4114800"/>
            <a:ext cx="8503920" cy="320040"/>
          </a:xfrm>
          <a:prstGeom prst="rect">
            <a:avLst/>
          </a:prstGeom>
          <a:solidFill>
            <a:srgbClr val="E8F4F8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4" name="Shape 52"/>
          <p:cNvSpPr/>
          <p:nvPr/>
        </p:nvSpPr>
        <p:spPr>
          <a:xfrm>
            <a:off x="411480" y="4114800"/>
            <a:ext cx="1463040" cy="3200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5" name="Text 53"/>
          <p:cNvSpPr/>
          <p:nvPr/>
        </p:nvSpPr>
        <p:spPr>
          <a:xfrm>
            <a:off x="411480" y="41148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2103120" y="41148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Horarios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3794760" y="41148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Instructores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5486400" y="41148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Fichas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7178040" y="41148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Ambientes</a:t>
            </a:r>
            <a:endParaRPr lang="en-US" sz="950" dirty="0"/>
          </a:p>
        </p:txBody>
      </p:sp>
      <p:sp>
        <p:nvSpPr>
          <p:cNvPr id="60" name="Text 58"/>
          <p:cNvSpPr/>
          <p:nvPr/>
        </p:nvSpPr>
        <p:spPr>
          <a:xfrm>
            <a:off x="320040" y="450799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Barra de navegación principal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7772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347472" y="0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Diapositiva 2  ·  Calendario Semanal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858000" y="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Pantalla 02 / 05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914400"/>
            <a:ext cx="6217920" cy="384048"/>
          </a:xfrm>
          <a:prstGeom prst="rect">
            <a:avLst/>
          </a:prstGeom>
          <a:solidFill>
            <a:srgbClr val="F2F7FA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Shape 5"/>
          <p:cNvSpPr/>
          <p:nvPr/>
        </p:nvSpPr>
        <p:spPr>
          <a:xfrm>
            <a:off x="384048" y="969264"/>
            <a:ext cx="141732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384048" y="969264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▾  Semana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920240" y="969264"/>
            <a:ext cx="141732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Text 8"/>
          <p:cNvSpPr/>
          <p:nvPr/>
        </p:nvSpPr>
        <p:spPr>
          <a:xfrm>
            <a:off x="1920240" y="969264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▾  Ficha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456432" y="969264"/>
            <a:ext cx="141732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/>
          <p:nvPr/>
        </p:nvSpPr>
        <p:spPr>
          <a:xfrm>
            <a:off x="3456432" y="969264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▾  Instructor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992624" y="969264"/>
            <a:ext cx="141732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Text 12"/>
          <p:cNvSpPr/>
          <p:nvPr/>
        </p:nvSpPr>
        <p:spPr>
          <a:xfrm>
            <a:off x="4992624" y="969264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▾  Ambiente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20040" y="1417320"/>
            <a:ext cx="640080" cy="256032"/>
          </a:xfrm>
          <a:prstGeom prst="rect">
            <a:avLst/>
          </a:prstGeom>
          <a:solidFill>
            <a:srgbClr val="F2F7FA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6" name="Text 14"/>
          <p:cNvSpPr/>
          <p:nvPr/>
        </p:nvSpPr>
        <p:spPr>
          <a:xfrm>
            <a:off x="320040" y="141732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HORA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960120" y="1417320"/>
            <a:ext cx="914400" cy="256032"/>
          </a:xfrm>
          <a:prstGeom prst="rect">
            <a:avLst/>
          </a:prstGeom>
          <a:solidFill>
            <a:srgbClr val="1E3A5F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8" name="Text 16"/>
          <p:cNvSpPr/>
          <p:nvPr/>
        </p:nvSpPr>
        <p:spPr>
          <a:xfrm>
            <a:off x="960120" y="141732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1874520" y="1417320"/>
            <a:ext cx="914400" cy="256032"/>
          </a:xfrm>
          <a:prstGeom prst="rect">
            <a:avLst/>
          </a:prstGeom>
          <a:solidFill>
            <a:srgbClr val="1E3A5F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" name="Text 18"/>
          <p:cNvSpPr/>
          <p:nvPr/>
        </p:nvSpPr>
        <p:spPr>
          <a:xfrm>
            <a:off x="1874520" y="141732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2788920" y="1417320"/>
            <a:ext cx="914400" cy="256032"/>
          </a:xfrm>
          <a:prstGeom prst="rect">
            <a:avLst/>
          </a:prstGeom>
          <a:solidFill>
            <a:srgbClr val="1E3A5F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2" name="Text 20"/>
          <p:cNvSpPr/>
          <p:nvPr/>
        </p:nvSpPr>
        <p:spPr>
          <a:xfrm>
            <a:off x="2788920" y="141732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MIÉ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703320" y="1417320"/>
            <a:ext cx="914400" cy="256032"/>
          </a:xfrm>
          <a:prstGeom prst="rect">
            <a:avLst/>
          </a:prstGeom>
          <a:solidFill>
            <a:srgbClr val="1E3A5F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4" name="Text 22"/>
          <p:cNvSpPr/>
          <p:nvPr/>
        </p:nvSpPr>
        <p:spPr>
          <a:xfrm>
            <a:off x="3703320" y="141732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617720" y="1417320"/>
            <a:ext cx="914400" cy="256032"/>
          </a:xfrm>
          <a:prstGeom prst="rect">
            <a:avLst/>
          </a:prstGeom>
          <a:solidFill>
            <a:srgbClr val="1E3A5F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6" name="Text 24"/>
          <p:cNvSpPr/>
          <p:nvPr/>
        </p:nvSpPr>
        <p:spPr>
          <a:xfrm>
            <a:off x="4617720" y="141732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5532120" y="1417320"/>
            <a:ext cx="914400" cy="256032"/>
          </a:xfrm>
          <a:prstGeom prst="rect">
            <a:avLst/>
          </a:prstGeom>
          <a:solidFill>
            <a:srgbClr val="1E3A5F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8" name="Text 26"/>
          <p:cNvSpPr/>
          <p:nvPr/>
        </p:nvSpPr>
        <p:spPr>
          <a:xfrm>
            <a:off x="5532120" y="141732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SÁB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20040" y="1673352"/>
            <a:ext cx="640080" cy="402336"/>
          </a:xfrm>
          <a:prstGeom prst="rect">
            <a:avLst/>
          </a:prstGeom>
          <a:solidFill>
            <a:srgbClr val="F2F7FA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0" name="Text 28"/>
          <p:cNvSpPr/>
          <p:nvPr/>
        </p:nvSpPr>
        <p:spPr>
          <a:xfrm>
            <a:off x="320040" y="1673352"/>
            <a:ext cx="640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07:00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960120" y="1673352"/>
            <a:ext cx="9144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2" name="Shape 30"/>
          <p:cNvSpPr/>
          <p:nvPr/>
        </p:nvSpPr>
        <p:spPr>
          <a:xfrm>
            <a:off x="1874520" y="1673352"/>
            <a:ext cx="9144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3" name="Shape 31"/>
          <p:cNvSpPr/>
          <p:nvPr/>
        </p:nvSpPr>
        <p:spPr>
          <a:xfrm>
            <a:off x="2788920" y="1673352"/>
            <a:ext cx="9144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4" name="Shape 32"/>
          <p:cNvSpPr/>
          <p:nvPr/>
        </p:nvSpPr>
        <p:spPr>
          <a:xfrm>
            <a:off x="3703320" y="1673352"/>
            <a:ext cx="9144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5" name="Shape 33"/>
          <p:cNvSpPr/>
          <p:nvPr/>
        </p:nvSpPr>
        <p:spPr>
          <a:xfrm>
            <a:off x="4617720" y="1673352"/>
            <a:ext cx="9144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6" name="Shape 34"/>
          <p:cNvSpPr/>
          <p:nvPr/>
        </p:nvSpPr>
        <p:spPr>
          <a:xfrm>
            <a:off x="5532120" y="1673352"/>
            <a:ext cx="9144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7" name="Shape 35"/>
          <p:cNvSpPr/>
          <p:nvPr/>
        </p:nvSpPr>
        <p:spPr>
          <a:xfrm>
            <a:off x="320040" y="2075688"/>
            <a:ext cx="640080" cy="402336"/>
          </a:xfrm>
          <a:prstGeom prst="rect">
            <a:avLst/>
          </a:prstGeom>
          <a:solidFill>
            <a:srgbClr val="F2F7FA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8" name="Text 36"/>
          <p:cNvSpPr/>
          <p:nvPr/>
        </p:nvSpPr>
        <p:spPr>
          <a:xfrm>
            <a:off x="320040" y="2075688"/>
            <a:ext cx="640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08:00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960120" y="2075688"/>
            <a:ext cx="9144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0" name="Shape 38"/>
          <p:cNvSpPr/>
          <p:nvPr/>
        </p:nvSpPr>
        <p:spPr>
          <a:xfrm>
            <a:off x="1874520" y="2075688"/>
            <a:ext cx="9144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1" name="Shape 39"/>
          <p:cNvSpPr/>
          <p:nvPr/>
        </p:nvSpPr>
        <p:spPr>
          <a:xfrm>
            <a:off x="2788920" y="2075688"/>
            <a:ext cx="9144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2" name="Shape 40"/>
          <p:cNvSpPr/>
          <p:nvPr/>
        </p:nvSpPr>
        <p:spPr>
          <a:xfrm>
            <a:off x="3703320" y="2075688"/>
            <a:ext cx="9144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3" name="Shape 41"/>
          <p:cNvSpPr/>
          <p:nvPr/>
        </p:nvSpPr>
        <p:spPr>
          <a:xfrm>
            <a:off x="4617720" y="2075688"/>
            <a:ext cx="9144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4" name="Shape 42"/>
          <p:cNvSpPr/>
          <p:nvPr/>
        </p:nvSpPr>
        <p:spPr>
          <a:xfrm>
            <a:off x="5532120" y="2075688"/>
            <a:ext cx="9144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5" name="Shape 43"/>
          <p:cNvSpPr/>
          <p:nvPr/>
        </p:nvSpPr>
        <p:spPr>
          <a:xfrm>
            <a:off x="320040" y="2478024"/>
            <a:ext cx="640080" cy="402336"/>
          </a:xfrm>
          <a:prstGeom prst="rect">
            <a:avLst/>
          </a:prstGeom>
          <a:solidFill>
            <a:srgbClr val="F2F7FA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6" name="Text 44"/>
          <p:cNvSpPr/>
          <p:nvPr/>
        </p:nvSpPr>
        <p:spPr>
          <a:xfrm>
            <a:off x="320040" y="2478024"/>
            <a:ext cx="640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09:00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960120" y="2478024"/>
            <a:ext cx="9144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8" name="Shape 46"/>
          <p:cNvSpPr/>
          <p:nvPr/>
        </p:nvSpPr>
        <p:spPr>
          <a:xfrm>
            <a:off x="1874520" y="2478024"/>
            <a:ext cx="9144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9" name="Shape 47"/>
          <p:cNvSpPr/>
          <p:nvPr/>
        </p:nvSpPr>
        <p:spPr>
          <a:xfrm>
            <a:off x="2788920" y="2478024"/>
            <a:ext cx="9144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0" name="Shape 48"/>
          <p:cNvSpPr/>
          <p:nvPr/>
        </p:nvSpPr>
        <p:spPr>
          <a:xfrm>
            <a:off x="3703320" y="2478024"/>
            <a:ext cx="9144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1" name="Shape 49"/>
          <p:cNvSpPr/>
          <p:nvPr/>
        </p:nvSpPr>
        <p:spPr>
          <a:xfrm>
            <a:off x="4617720" y="2478024"/>
            <a:ext cx="9144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2" name="Shape 50"/>
          <p:cNvSpPr/>
          <p:nvPr/>
        </p:nvSpPr>
        <p:spPr>
          <a:xfrm>
            <a:off x="5532120" y="2478024"/>
            <a:ext cx="9144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3" name="Shape 51"/>
          <p:cNvSpPr/>
          <p:nvPr/>
        </p:nvSpPr>
        <p:spPr>
          <a:xfrm>
            <a:off x="320040" y="2880360"/>
            <a:ext cx="640080" cy="402336"/>
          </a:xfrm>
          <a:prstGeom prst="rect">
            <a:avLst/>
          </a:prstGeom>
          <a:solidFill>
            <a:srgbClr val="F2F7FA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4" name="Text 52"/>
          <p:cNvSpPr/>
          <p:nvPr/>
        </p:nvSpPr>
        <p:spPr>
          <a:xfrm>
            <a:off x="320040" y="2880360"/>
            <a:ext cx="640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10:00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960120" y="2880360"/>
            <a:ext cx="9144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6" name="Shape 54"/>
          <p:cNvSpPr/>
          <p:nvPr/>
        </p:nvSpPr>
        <p:spPr>
          <a:xfrm>
            <a:off x="1874520" y="2880360"/>
            <a:ext cx="9144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7" name="Shape 55"/>
          <p:cNvSpPr/>
          <p:nvPr/>
        </p:nvSpPr>
        <p:spPr>
          <a:xfrm>
            <a:off x="2788920" y="2880360"/>
            <a:ext cx="9144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8" name="Shape 56"/>
          <p:cNvSpPr/>
          <p:nvPr/>
        </p:nvSpPr>
        <p:spPr>
          <a:xfrm>
            <a:off x="3703320" y="2880360"/>
            <a:ext cx="9144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9" name="Shape 57"/>
          <p:cNvSpPr/>
          <p:nvPr/>
        </p:nvSpPr>
        <p:spPr>
          <a:xfrm>
            <a:off x="4617720" y="2880360"/>
            <a:ext cx="9144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0" name="Shape 58"/>
          <p:cNvSpPr/>
          <p:nvPr/>
        </p:nvSpPr>
        <p:spPr>
          <a:xfrm>
            <a:off x="5532120" y="2880360"/>
            <a:ext cx="9144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1" name="Shape 59"/>
          <p:cNvSpPr/>
          <p:nvPr/>
        </p:nvSpPr>
        <p:spPr>
          <a:xfrm>
            <a:off x="320040" y="3282696"/>
            <a:ext cx="640080" cy="402336"/>
          </a:xfrm>
          <a:prstGeom prst="rect">
            <a:avLst/>
          </a:prstGeom>
          <a:solidFill>
            <a:srgbClr val="F2F7FA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2" name="Text 60"/>
          <p:cNvSpPr/>
          <p:nvPr/>
        </p:nvSpPr>
        <p:spPr>
          <a:xfrm>
            <a:off x="320040" y="3282696"/>
            <a:ext cx="640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11:00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960120" y="3282696"/>
            <a:ext cx="9144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4" name="Shape 62"/>
          <p:cNvSpPr/>
          <p:nvPr/>
        </p:nvSpPr>
        <p:spPr>
          <a:xfrm>
            <a:off x="1874520" y="3282696"/>
            <a:ext cx="9144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5" name="Shape 63"/>
          <p:cNvSpPr/>
          <p:nvPr/>
        </p:nvSpPr>
        <p:spPr>
          <a:xfrm>
            <a:off x="2788920" y="3282696"/>
            <a:ext cx="9144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6" name="Shape 64"/>
          <p:cNvSpPr/>
          <p:nvPr/>
        </p:nvSpPr>
        <p:spPr>
          <a:xfrm>
            <a:off x="3703320" y="3282696"/>
            <a:ext cx="9144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7" name="Shape 65"/>
          <p:cNvSpPr/>
          <p:nvPr/>
        </p:nvSpPr>
        <p:spPr>
          <a:xfrm>
            <a:off x="4617720" y="3282696"/>
            <a:ext cx="9144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8" name="Shape 66"/>
          <p:cNvSpPr/>
          <p:nvPr/>
        </p:nvSpPr>
        <p:spPr>
          <a:xfrm>
            <a:off x="5532120" y="3282696"/>
            <a:ext cx="9144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9" name="Shape 67"/>
          <p:cNvSpPr/>
          <p:nvPr/>
        </p:nvSpPr>
        <p:spPr>
          <a:xfrm>
            <a:off x="996696" y="1691640"/>
            <a:ext cx="841248" cy="768096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0" name="Text 68"/>
          <p:cNvSpPr/>
          <p:nvPr/>
        </p:nvSpPr>
        <p:spPr>
          <a:xfrm>
            <a:off x="996696" y="1691640"/>
            <a:ext cx="841248" cy="7680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AF-2310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J. Pérez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3</a:t>
            </a:r>
            <a:endParaRPr lang="en-US" sz="750" dirty="0"/>
          </a:p>
        </p:txBody>
      </p:sp>
      <p:sp>
        <p:nvSpPr>
          <p:cNvPr id="71" name="Shape 69"/>
          <p:cNvSpPr/>
          <p:nvPr/>
        </p:nvSpPr>
        <p:spPr>
          <a:xfrm>
            <a:off x="2825496" y="2093976"/>
            <a:ext cx="841248" cy="768096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2" name="Text 70"/>
          <p:cNvSpPr/>
          <p:nvPr/>
        </p:nvSpPr>
        <p:spPr>
          <a:xfrm>
            <a:off x="2825496" y="2093976"/>
            <a:ext cx="841248" cy="7680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AF-1820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L. Torres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1</a:t>
            </a:r>
            <a:endParaRPr lang="en-US" sz="750" dirty="0"/>
          </a:p>
        </p:txBody>
      </p:sp>
      <p:sp>
        <p:nvSpPr>
          <p:cNvPr id="73" name="Shape 71"/>
          <p:cNvSpPr/>
          <p:nvPr/>
        </p:nvSpPr>
        <p:spPr>
          <a:xfrm>
            <a:off x="1911096" y="1691640"/>
            <a:ext cx="841248" cy="768096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4" name="Text 72"/>
          <p:cNvSpPr/>
          <p:nvPr/>
        </p:nvSpPr>
        <p:spPr>
          <a:xfrm>
            <a:off x="1911096" y="1691640"/>
            <a:ext cx="841248" cy="7680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CONFLICTO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AF-1201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Ambiente</a:t>
            </a:r>
            <a:endParaRPr lang="en-US" sz="750" dirty="0"/>
          </a:p>
        </p:txBody>
      </p:sp>
      <p:sp>
        <p:nvSpPr>
          <p:cNvPr id="75" name="Shape 73"/>
          <p:cNvSpPr/>
          <p:nvPr/>
        </p:nvSpPr>
        <p:spPr>
          <a:xfrm>
            <a:off x="4654296" y="2496312"/>
            <a:ext cx="841248" cy="768096"/>
          </a:xfrm>
          <a:prstGeom prst="rect">
            <a:avLst/>
          </a:prstGeom>
          <a:solidFill>
            <a:srgbClr val="BDC3C7"/>
          </a:solidFill>
          <a:ln w="12700">
            <a:solidFill>
              <a:srgbClr val="BDC3C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6" name="Text 74"/>
          <p:cNvSpPr/>
          <p:nvPr/>
        </p:nvSpPr>
        <p:spPr>
          <a:xfrm>
            <a:off x="4654296" y="2496312"/>
            <a:ext cx="841248" cy="7680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MANT.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2</a:t>
            </a:r>
            <a:endParaRPr lang="en-US" sz="750" dirty="0"/>
          </a:p>
        </p:txBody>
      </p:sp>
      <p:sp>
        <p:nvSpPr>
          <p:cNvPr id="77" name="Shape 75"/>
          <p:cNvSpPr/>
          <p:nvPr/>
        </p:nvSpPr>
        <p:spPr>
          <a:xfrm>
            <a:off x="6675120" y="914400"/>
            <a:ext cx="2148840" cy="3200400"/>
          </a:xfrm>
          <a:prstGeom prst="rect">
            <a:avLst/>
          </a:prstGeom>
          <a:solidFill>
            <a:srgbClr val="F2F7FA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8" name="Text 76"/>
          <p:cNvSpPr/>
          <p:nvPr/>
        </p:nvSpPr>
        <p:spPr>
          <a:xfrm>
            <a:off x="6675120" y="914400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Lateral</a:t>
            </a:r>
            <a:endParaRPr lang="en-US" sz="1000" dirty="0"/>
          </a:p>
        </p:txBody>
      </p:sp>
      <p:sp>
        <p:nvSpPr>
          <p:cNvPr id="79" name="Shape 77"/>
          <p:cNvSpPr/>
          <p:nvPr/>
        </p:nvSpPr>
        <p:spPr>
          <a:xfrm>
            <a:off x="6675120" y="914400"/>
            <a:ext cx="2148840" cy="32918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0" name="Text 78"/>
          <p:cNvSpPr/>
          <p:nvPr/>
        </p:nvSpPr>
        <p:spPr>
          <a:xfrm>
            <a:off x="6675120" y="914400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Lateral</a:t>
            </a:r>
            <a:endParaRPr lang="en-US" sz="1000" dirty="0"/>
          </a:p>
        </p:txBody>
      </p:sp>
      <p:sp>
        <p:nvSpPr>
          <p:cNvPr id="81" name="Text 79"/>
          <p:cNvSpPr/>
          <p:nvPr/>
        </p:nvSpPr>
        <p:spPr>
          <a:xfrm>
            <a:off x="6784848" y="1353312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Ficha:</a:t>
            </a:r>
            <a:endParaRPr lang="en-US" sz="850" dirty="0"/>
          </a:p>
        </p:txBody>
      </p:sp>
      <p:sp>
        <p:nvSpPr>
          <p:cNvPr id="82" name="Text 80"/>
          <p:cNvSpPr/>
          <p:nvPr/>
        </p:nvSpPr>
        <p:spPr>
          <a:xfrm>
            <a:off x="6784848" y="1581912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AF-2310</a:t>
            </a:r>
            <a:endParaRPr lang="en-US" sz="900" dirty="0"/>
          </a:p>
        </p:txBody>
      </p:sp>
      <p:sp>
        <p:nvSpPr>
          <p:cNvPr id="83" name="Text 81"/>
          <p:cNvSpPr/>
          <p:nvPr/>
        </p:nvSpPr>
        <p:spPr>
          <a:xfrm>
            <a:off x="6784848" y="1810512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Instructor:</a:t>
            </a:r>
            <a:endParaRPr lang="en-US" sz="850" dirty="0"/>
          </a:p>
        </p:txBody>
      </p:sp>
      <p:sp>
        <p:nvSpPr>
          <p:cNvPr id="84" name="Text 82"/>
          <p:cNvSpPr/>
          <p:nvPr/>
        </p:nvSpPr>
        <p:spPr>
          <a:xfrm>
            <a:off x="6784848" y="2039112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J. Pérez</a:t>
            </a:r>
            <a:endParaRPr lang="en-US" sz="900" dirty="0"/>
          </a:p>
        </p:txBody>
      </p:sp>
      <p:sp>
        <p:nvSpPr>
          <p:cNvPr id="85" name="Text 83"/>
          <p:cNvSpPr/>
          <p:nvPr/>
        </p:nvSpPr>
        <p:spPr>
          <a:xfrm>
            <a:off x="6784848" y="2267712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Ambiente:</a:t>
            </a:r>
            <a:endParaRPr lang="en-US" sz="850" dirty="0"/>
          </a:p>
        </p:txBody>
      </p:sp>
      <p:sp>
        <p:nvSpPr>
          <p:cNvPr id="86" name="Text 84"/>
          <p:cNvSpPr/>
          <p:nvPr/>
        </p:nvSpPr>
        <p:spPr>
          <a:xfrm>
            <a:off x="6784848" y="2496312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3</a:t>
            </a:r>
            <a:endParaRPr lang="en-US" sz="900" dirty="0"/>
          </a:p>
        </p:txBody>
      </p:sp>
      <p:sp>
        <p:nvSpPr>
          <p:cNvPr id="87" name="Text 85"/>
          <p:cNvSpPr/>
          <p:nvPr/>
        </p:nvSpPr>
        <p:spPr>
          <a:xfrm>
            <a:off x="6784848" y="2724912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Hora:</a:t>
            </a:r>
            <a:endParaRPr lang="en-US" sz="850" dirty="0"/>
          </a:p>
        </p:txBody>
      </p:sp>
      <p:sp>
        <p:nvSpPr>
          <p:cNvPr id="88" name="Text 86"/>
          <p:cNvSpPr/>
          <p:nvPr/>
        </p:nvSpPr>
        <p:spPr>
          <a:xfrm>
            <a:off x="6784848" y="2953512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07:00 – 09:00</a:t>
            </a:r>
            <a:endParaRPr lang="en-US" sz="900" dirty="0"/>
          </a:p>
        </p:txBody>
      </p:sp>
      <p:sp>
        <p:nvSpPr>
          <p:cNvPr id="89" name="Shape 87"/>
          <p:cNvSpPr/>
          <p:nvPr/>
        </p:nvSpPr>
        <p:spPr>
          <a:xfrm>
            <a:off x="6784848" y="2458103"/>
            <a:ext cx="1920240" cy="31089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0" name="Text 88"/>
          <p:cNvSpPr/>
          <p:nvPr/>
        </p:nvSpPr>
        <p:spPr>
          <a:xfrm>
            <a:off x="6784848" y="2432304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✎ Editar</a:t>
            </a:r>
            <a:endParaRPr lang="en-US" sz="850" dirty="0"/>
          </a:p>
        </p:txBody>
      </p:sp>
      <p:sp>
        <p:nvSpPr>
          <p:cNvPr id="91" name="Shape 89"/>
          <p:cNvSpPr/>
          <p:nvPr/>
        </p:nvSpPr>
        <p:spPr>
          <a:xfrm>
            <a:off x="6789420" y="2926080"/>
            <a:ext cx="1920240" cy="310896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CO" dirty="0"/>
          </a:p>
        </p:txBody>
      </p:sp>
      <p:sp>
        <p:nvSpPr>
          <p:cNvPr id="92" name="Text 90"/>
          <p:cNvSpPr/>
          <p:nvPr/>
        </p:nvSpPr>
        <p:spPr>
          <a:xfrm>
            <a:off x="6784848" y="2852928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✖ Eliminar</a:t>
            </a:r>
            <a:endParaRPr lang="en-US" sz="850" dirty="0"/>
          </a:p>
        </p:txBody>
      </p:sp>
      <p:sp>
        <p:nvSpPr>
          <p:cNvPr id="93" name="Shape 91"/>
          <p:cNvSpPr/>
          <p:nvPr/>
        </p:nvSpPr>
        <p:spPr>
          <a:xfrm>
            <a:off x="6789420" y="3282696"/>
            <a:ext cx="1920240" cy="310896"/>
          </a:xfrm>
          <a:prstGeom prst="rect">
            <a:avLst/>
          </a:prstGeom>
          <a:solidFill>
            <a:srgbClr val="5A6A7A"/>
          </a:solidFill>
          <a:ln w="12700">
            <a:solidFill>
              <a:srgbClr val="5A6A7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4" name="Text 92"/>
          <p:cNvSpPr/>
          <p:nvPr/>
        </p:nvSpPr>
        <p:spPr>
          <a:xfrm>
            <a:off x="6784848" y="3273552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Ver Observaciones</a:t>
            </a:r>
            <a:endParaRPr lang="en-US" sz="850" dirty="0"/>
          </a:p>
        </p:txBody>
      </p:sp>
      <p:sp>
        <p:nvSpPr>
          <p:cNvPr id="95" name="Shape 93"/>
          <p:cNvSpPr/>
          <p:nvPr/>
        </p:nvSpPr>
        <p:spPr>
          <a:xfrm>
            <a:off x="320040" y="4681728"/>
            <a:ext cx="201168" cy="20116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6" name="Text 94"/>
          <p:cNvSpPr/>
          <p:nvPr/>
        </p:nvSpPr>
        <p:spPr>
          <a:xfrm>
            <a:off x="576072" y="468172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normal</a:t>
            </a:r>
            <a:endParaRPr lang="en-US" sz="850" dirty="0"/>
          </a:p>
        </p:txBody>
      </p:sp>
      <p:sp>
        <p:nvSpPr>
          <p:cNvPr id="97" name="Shape 95"/>
          <p:cNvSpPr/>
          <p:nvPr/>
        </p:nvSpPr>
        <p:spPr>
          <a:xfrm>
            <a:off x="2468880" y="4681728"/>
            <a:ext cx="201168" cy="201168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8" name="Text 96"/>
          <p:cNvSpPr/>
          <p:nvPr/>
        </p:nvSpPr>
        <p:spPr>
          <a:xfrm>
            <a:off x="2724912" y="468172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Conflicto</a:t>
            </a:r>
            <a:endParaRPr lang="en-US" sz="850" dirty="0"/>
          </a:p>
        </p:txBody>
      </p:sp>
      <p:sp>
        <p:nvSpPr>
          <p:cNvPr id="99" name="Shape 97"/>
          <p:cNvSpPr/>
          <p:nvPr/>
        </p:nvSpPr>
        <p:spPr>
          <a:xfrm>
            <a:off x="4572000" y="4681728"/>
            <a:ext cx="201168" cy="201168"/>
          </a:xfrm>
          <a:prstGeom prst="rect">
            <a:avLst/>
          </a:prstGeom>
          <a:solidFill>
            <a:srgbClr val="BDC3C7"/>
          </a:solidFill>
          <a:ln w="12700">
            <a:solidFill>
              <a:srgbClr val="BDC3C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0" name="Text 98"/>
          <p:cNvSpPr/>
          <p:nvPr/>
        </p:nvSpPr>
        <p:spPr>
          <a:xfrm>
            <a:off x="4873752" y="468172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Bloqueado / Mantenimiento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7772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347472" y="0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Diapositiva 3  ·  Formulario de Horario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858000" y="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Pantalla 03 / 05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914400"/>
            <a:ext cx="5212080" cy="3977640"/>
          </a:xfrm>
          <a:prstGeom prst="rect">
            <a:avLst/>
          </a:prstGeom>
          <a:solidFill>
            <a:srgbClr val="F2F7FA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457200" y="100584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Ficha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508760" y="1005840"/>
            <a:ext cx="3858768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Text 7"/>
          <p:cNvSpPr/>
          <p:nvPr/>
        </p:nvSpPr>
        <p:spPr>
          <a:xfrm>
            <a:off x="1536192" y="1005840"/>
            <a:ext cx="38039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▾  Código SENA – Programa de Formación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57200" y="159105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508760" y="1591056"/>
            <a:ext cx="3858768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/>
          <p:nvPr/>
        </p:nvSpPr>
        <p:spPr>
          <a:xfrm>
            <a:off x="1536192" y="1591056"/>
            <a:ext cx="38039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▾  Nombre  [PLANTA] / [CONTRATISTA]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57200" y="217627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Ambiente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1508760" y="2176272"/>
            <a:ext cx="3858768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Text 13"/>
          <p:cNvSpPr/>
          <p:nvPr/>
        </p:nvSpPr>
        <p:spPr>
          <a:xfrm>
            <a:off x="1536192" y="2176272"/>
            <a:ext cx="38039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▾  Solo ambientes Disponibles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57200" y="276148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1508760" y="2761488"/>
            <a:ext cx="3858768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8" name="Text 16"/>
          <p:cNvSpPr/>
          <p:nvPr/>
        </p:nvSpPr>
        <p:spPr>
          <a:xfrm>
            <a:off x="1536192" y="2761488"/>
            <a:ext cx="38039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Fecha  |  ⏰ Inicio  |  ⏰ Fin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1508760" y="3063240"/>
            <a:ext cx="3858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Hora Fin ≤ Hora Inicio  (RN-007)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457200" y="3346704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Tema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1508760" y="3346704"/>
            <a:ext cx="3858768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2" name="Text 20"/>
          <p:cNvSpPr/>
          <p:nvPr/>
        </p:nvSpPr>
        <p:spPr>
          <a:xfrm>
            <a:off x="1536192" y="3346704"/>
            <a:ext cx="38039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Texto libre (máx. 300 caracteres)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57200" y="393192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 Horaria del Instructor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200400" y="393192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78%  (31 h / 40 h)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57200" y="4160520"/>
            <a:ext cx="4846320" cy="182880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6" name="Shape 24"/>
          <p:cNvSpPr/>
          <p:nvPr/>
        </p:nvSpPr>
        <p:spPr>
          <a:xfrm>
            <a:off x="457200" y="4160520"/>
            <a:ext cx="3780130" cy="18288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7" name="Shape 25"/>
          <p:cNvSpPr/>
          <p:nvPr/>
        </p:nvSpPr>
        <p:spPr>
          <a:xfrm>
            <a:off x="457200" y="4407408"/>
            <a:ext cx="4846320" cy="365760"/>
          </a:xfrm>
          <a:prstGeom prst="rect">
            <a:avLst/>
          </a:prstGeom>
          <a:solidFill>
            <a:srgbClr val="FFF3CD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8" name="Text 26"/>
          <p:cNvSpPr/>
          <p:nvPr/>
        </p:nvSpPr>
        <p:spPr>
          <a:xfrm>
            <a:off x="502920" y="440740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564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Panel de alertas: Se activa si hay conflicto de lugar, instructor, capacidad o límite horario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2286000" y="4818888"/>
            <a:ext cx="1417320" cy="329184"/>
          </a:xfrm>
          <a:prstGeom prst="rect">
            <a:avLst/>
          </a:prstGeom>
          <a:solidFill>
            <a:srgbClr val="F2F7FA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0" name="Text 28"/>
          <p:cNvSpPr/>
          <p:nvPr/>
        </p:nvSpPr>
        <p:spPr>
          <a:xfrm>
            <a:off x="2286000" y="4818888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Cancelar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794760" y="4818888"/>
            <a:ext cx="1600200" cy="329184"/>
          </a:xfrm>
          <a:prstGeom prst="rect">
            <a:avLst/>
          </a:prstGeom>
          <a:solidFill>
            <a:srgbClr val="BDBDBD"/>
          </a:solidFill>
          <a:ln w="12700">
            <a:solidFill>
              <a:srgbClr val="BDBDB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2" name="Text 30"/>
          <p:cNvSpPr/>
          <p:nvPr/>
        </p:nvSpPr>
        <p:spPr>
          <a:xfrm>
            <a:off x="3794760" y="4818888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Guardar sesión  🔒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669280" y="914400"/>
            <a:ext cx="3154680" cy="3977640"/>
          </a:xfrm>
          <a:prstGeom prst="rect">
            <a:avLst/>
          </a:prstGeom>
          <a:solidFill>
            <a:srgbClr val="F2F7FA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4" name="Shape 32"/>
          <p:cNvSpPr/>
          <p:nvPr/>
        </p:nvSpPr>
        <p:spPr>
          <a:xfrm>
            <a:off x="5669280" y="914400"/>
            <a:ext cx="3154680" cy="32918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5" name="Text 33"/>
          <p:cNvSpPr/>
          <p:nvPr/>
        </p:nvSpPr>
        <p:spPr>
          <a:xfrm>
            <a:off x="5669280" y="914400"/>
            <a:ext cx="3154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Reglas de Validación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760720" y="1335024"/>
            <a:ext cx="594360" cy="20116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7" name="Text 35"/>
          <p:cNvSpPr/>
          <p:nvPr/>
        </p:nvSpPr>
        <p:spPr>
          <a:xfrm>
            <a:off x="5760720" y="1335024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RN-001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6419088" y="1335024"/>
            <a:ext cx="2313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Ambiente ya ocupado → bloque rojo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5760720" y="1764792"/>
            <a:ext cx="594360" cy="20116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0" name="Text 38"/>
          <p:cNvSpPr/>
          <p:nvPr/>
        </p:nvSpPr>
        <p:spPr>
          <a:xfrm>
            <a:off x="5760720" y="1764792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RN-002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6419088" y="1764792"/>
            <a:ext cx="2313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 ya asignado → bloque rojo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5760720" y="2194560"/>
            <a:ext cx="594360" cy="201168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3" name="Text 41"/>
          <p:cNvSpPr/>
          <p:nvPr/>
        </p:nvSpPr>
        <p:spPr>
          <a:xfrm>
            <a:off x="5760720" y="2194560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RN-003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6419088" y="2194560"/>
            <a:ext cx="2313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&gt; capacidad → ambiente ⚠ gris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5760720" y="2624328"/>
            <a:ext cx="594360" cy="201168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6" name="Text 44"/>
          <p:cNvSpPr/>
          <p:nvPr/>
        </p:nvSpPr>
        <p:spPr>
          <a:xfrm>
            <a:off x="5760720" y="2624328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RN-004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6419088" y="2624328"/>
            <a:ext cx="2313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ambientes Disponibles en selector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5760720" y="3054096"/>
            <a:ext cx="594360" cy="20116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9" name="Text 47"/>
          <p:cNvSpPr/>
          <p:nvPr/>
        </p:nvSpPr>
        <p:spPr>
          <a:xfrm>
            <a:off x="5760720" y="3054096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RN-005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6419088" y="3054096"/>
            <a:ext cx="2313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Contratista: máx. 40 h/sem → barra roja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5760720" y="3483864"/>
            <a:ext cx="594360" cy="20116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2" name="Text 50"/>
          <p:cNvSpPr/>
          <p:nvPr/>
        </p:nvSpPr>
        <p:spPr>
          <a:xfrm>
            <a:off x="5760720" y="3483864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RN-006</a:t>
            </a:r>
            <a:endParaRPr lang="en-US" sz="750" dirty="0"/>
          </a:p>
        </p:txBody>
      </p:sp>
      <p:sp>
        <p:nvSpPr>
          <p:cNvPr id="53" name="Text 51"/>
          <p:cNvSpPr/>
          <p:nvPr/>
        </p:nvSpPr>
        <p:spPr>
          <a:xfrm>
            <a:off x="6419088" y="3483864"/>
            <a:ext cx="2313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Planta: máx. 48 h/sem → barra roja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5760720" y="3913632"/>
            <a:ext cx="594360" cy="20116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5" name="Text 53"/>
          <p:cNvSpPr/>
          <p:nvPr/>
        </p:nvSpPr>
        <p:spPr>
          <a:xfrm>
            <a:off x="5760720" y="3913632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RN-007</a:t>
            </a:r>
            <a:endParaRPr lang="en-US" sz="750" dirty="0"/>
          </a:p>
        </p:txBody>
      </p:sp>
      <p:sp>
        <p:nvSpPr>
          <p:cNvPr id="56" name="Text 54"/>
          <p:cNvSpPr/>
          <p:nvPr/>
        </p:nvSpPr>
        <p:spPr>
          <a:xfrm>
            <a:off x="6419088" y="3913632"/>
            <a:ext cx="2313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Hora Fin ≤ Inicio → campo rojo instantáneo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5760720" y="4343400"/>
            <a:ext cx="594360" cy="20116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8" name="Text 56"/>
          <p:cNvSpPr/>
          <p:nvPr/>
        </p:nvSpPr>
        <p:spPr>
          <a:xfrm>
            <a:off x="5760720" y="4343400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RN-008</a:t>
            </a:r>
            <a:endParaRPr lang="en-US" sz="750" dirty="0"/>
          </a:p>
        </p:txBody>
      </p:sp>
      <p:sp>
        <p:nvSpPr>
          <p:cNvPr id="59" name="Text 57"/>
          <p:cNvSpPr/>
          <p:nvPr/>
        </p:nvSpPr>
        <p:spPr>
          <a:xfrm>
            <a:off x="6419088" y="4343400"/>
            <a:ext cx="2313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Entidad con sesiones activas → eliminar bloqueado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13716"/>
            <a:ext cx="9144000" cy="7772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7772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CO" dirty="0">
              <a:highlight>
                <a:srgbClr val="FFFF00"/>
              </a:highlight>
            </a:endParaRPr>
          </a:p>
        </p:txBody>
      </p:sp>
      <p:sp>
        <p:nvSpPr>
          <p:cNvPr id="4" name="Text 2"/>
          <p:cNvSpPr/>
          <p:nvPr/>
        </p:nvSpPr>
        <p:spPr>
          <a:xfrm>
            <a:off x="347472" y="0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Diapositiva 4  ·  Instructores + Fichas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858000" y="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Pantalla 04 / 05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0040" y="96012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 de Instructores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1261872"/>
            <a:ext cx="1005840" cy="274320"/>
          </a:xfrm>
          <a:prstGeom prst="rect">
            <a:avLst/>
          </a:prstGeom>
          <a:solidFill>
            <a:srgbClr val="1E3A5F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320040" y="126187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N.° Doc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325880" y="1261872"/>
            <a:ext cx="1645920" cy="274320"/>
          </a:xfrm>
          <a:prstGeom prst="rect">
            <a:avLst/>
          </a:prstGeom>
          <a:solidFill>
            <a:srgbClr val="1E3A5F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Text 8"/>
          <p:cNvSpPr/>
          <p:nvPr/>
        </p:nvSpPr>
        <p:spPr>
          <a:xfrm>
            <a:off x="1325880" y="126187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971800" y="1261872"/>
            <a:ext cx="1005840" cy="274320"/>
          </a:xfrm>
          <a:prstGeom prst="rect">
            <a:avLst/>
          </a:prstGeom>
          <a:solidFill>
            <a:srgbClr val="1E3A5F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/>
          <p:nvPr/>
        </p:nvSpPr>
        <p:spPr>
          <a:xfrm>
            <a:off x="2971800" y="126187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Contrato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977640" y="1261872"/>
            <a:ext cx="1645920" cy="274320"/>
          </a:xfrm>
          <a:prstGeom prst="rect">
            <a:avLst/>
          </a:prstGeom>
          <a:solidFill>
            <a:srgbClr val="1E3A5F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Text 12"/>
          <p:cNvSpPr/>
          <p:nvPr/>
        </p:nvSpPr>
        <p:spPr>
          <a:xfrm>
            <a:off x="3977640" y="126187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Especialidad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5623560" y="1261872"/>
            <a:ext cx="914400" cy="274320"/>
          </a:xfrm>
          <a:prstGeom prst="rect">
            <a:avLst/>
          </a:prstGeom>
          <a:solidFill>
            <a:srgbClr val="1E3A5F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6" name="Text 14"/>
          <p:cNvSpPr/>
          <p:nvPr/>
        </p:nvSpPr>
        <p:spPr>
          <a:xfrm>
            <a:off x="5623560" y="126187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Acciones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20040" y="1536192"/>
            <a:ext cx="100584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8" name="Text 16"/>
          <p:cNvSpPr/>
          <p:nvPr/>
        </p:nvSpPr>
        <p:spPr>
          <a:xfrm>
            <a:off x="320040" y="153619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1.234.567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1325880" y="1536192"/>
            <a:ext cx="164592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" name="Text 18"/>
          <p:cNvSpPr/>
          <p:nvPr/>
        </p:nvSpPr>
        <p:spPr>
          <a:xfrm>
            <a:off x="1325880" y="153619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Jorge Pérez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2971800" y="1536192"/>
            <a:ext cx="100584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2" name="Shape 20"/>
          <p:cNvSpPr/>
          <p:nvPr/>
        </p:nvSpPr>
        <p:spPr>
          <a:xfrm>
            <a:off x="3044952" y="1581912"/>
            <a:ext cx="841248" cy="182880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3" name="Text 21"/>
          <p:cNvSpPr/>
          <p:nvPr/>
        </p:nvSpPr>
        <p:spPr>
          <a:xfrm>
            <a:off x="3044952" y="1581912"/>
            <a:ext cx="841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PLANTA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3977640" y="1536192"/>
            <a:ext cx="164592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5" name="Text 23"/>
          <p:cNvSpPr/>
          <p:nvPr/>
        </p:nvSpPr>
        <p:spPr>
          <a:xfrm>
            <a:off x="3977640" y="153619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5623560" y="1536192"/>
            <a:ext cx="91440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7" name="Text 25"/>
          <p:cNvSpPr/>
          <p:nvPr/>
        </p:nvSpPr>
        <p:spPr>
          <a:xfrm>
            <a:off x="5623560" y="15361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✎ ✖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320040" y="1828800"/>
            <a:ext cx="1005840" cy="274320"/>
          </a:xfrm>
          <a:prstGeom prst="rect">
            <a:avLst/>
          </a:prstGeom>
          <a:solidFill>
            <a:srgbClr val="F2F7FA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9" name="Text 27"/>
          <p:cNvSpPr/>
          <p:nvPr/>
        </p:nvSpPr>
        <p:spPr>
          <a:xfrm>
            <a:off x="320040" y="18288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9.876.543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1325880" y="1828800"/>
            <a:ext cx="1645920" cy="274320"/>
          </a:xfrm>
          <a:prstGeom prst="rect">
            <a:avLst/>
          </a:prstGeom>
          <a:solidFill>
            <a:srgbClr val="F2F7FA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1" name="Text 29"/>
          <p:cNvSpPr/>
          <p:nvPr/>
        </p:nvSpPr>
        <p:spPr>
          <a:xfrm>
            <a:off x="1325880" y="18288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Laura Torres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2971800" y="1828800"/>
            <a:ext cx="1005840" cy="274320"/>
          </a:xfrm>
          <a:prstGeom prst="rect">
            <a:avLst/>
          </a:prstGeom>
          <a:solidFill>
            <a:srgbClr val="F2F7FA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3" name="Shape 31"/>
          <p:cNvSpPr/>
          <p:nvPr/>
        </p:nvSpPr>
        <p:spPr>
          <a:xfrm>
            <a:off x="3044952" y="1874520"/>
            <a:ext cx="841248" cy="18288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4" name="Text 32"/>
          <p:cNvSpPr/>
          <p:nvPr/>
        </p:nvSpPr>
        <p:spPr>
          <a:xfrm>
            <a:off x="3044952" y="1874520"/>
            <a:ext cx="841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CONTRATISTA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3977640" y="1828800"/>
            <a:ext cx="1645920" cy="274320"/>
          </a:xfrm>
          <a:prstGeom prst="rect">
            <a:avLst/>
          </a:prstGeom>
          <a:solidFill>
            <a:srgbClr val="F2F7FA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6" name="Text 34"/>
          <p:cNvSpPr/>
          <p:nvPr/>
        </p:nvSpPr>
        <p:spPr>
          <a:xfrm>
            <a:off x="3977640" y="18288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5623560" y="1828800"/>
            <a:ext cx="914400" cy="274320"/>
          </a:xfrm>
          <a:prstGeom prst="rect">
            <a:avLst/>
          </a:prstGeom>
          <a:solidFill>
            <a:srgbClr val="F2F7FA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8" name="Text 36"/>
          <p:cNvSpPr/>
          <p:nvPr/>
        </p:nvSpPr>
        <p:spPr>
          <a:xfrm>
            <a:off x="5623560" y="1828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✎ ✖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320040" y="2121408"/>
            <a:ext cx="100584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0" name="Text 38"/>
          <p:cNvSpPr/>
          <p:nvPr/>
        </p:nvSpPr>
        <p:spPr>
          <a:xfrm>
            <a:off x="320040" y="212140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4.321.000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1325880" y="2121408"/>
            <a:ext cx="164592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2" name="Text 40"/>
          <p:cNvSpPr/>
          <p:nvPr/>
        </p:nvSpPr>
        <p:spPr>
          <a:xfrm>
            <a:off x="1325880" y="212140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Marcos Ruiz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2971800" y="2121408"/>
            <a:ext cx="100584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4" name="Shape 42"/>
          <p:cNvSpPr/>
          <p:nvPr/>
        </p:nvSpPr>
        <p:spPr>
          <a:xfrm>
            <a:off x="3044952" y="2167128"/>
            <a:ext cx="841248" cy="182880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5" name="Text 43"/>
          <p:cNvSpPr/>
          <p:nvPr/>
        </p:nvSpPr>
        <p:spPr>
          <a:xfrm>
            <a:off x="3044952" y="2167128"/>
            <a:ext cx="841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PLANTA</a:t>
            </a:r>
            <a:endParaRPr lang="en-US" sz="700" dirty="0"/>
          </a:p>
        </p:txBody>
      </p:sp>
      <p:sp>
        <p:nvSpPr>
          <p:cNvPr id="46" name="Shape 44"/>
          <p:cNvSpPr/>
          <p:nvPr/>
        </p:nvSpPr>
        <p:spPr>
          <a:xfrm>
            <a:off x="3977640" y="2121408"/>
            <a:ext cx="164592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7" name="Text 45"/>
          <p:cNvSpPr/>
          <p:nvPr/>
        </p:nvSpPr>
        <p:spPr>
          <a:xfrm>
            <a:off x="3977640" y="212140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Electrónica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5623560" y="2121408"/>
            <a:ext cx="91440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9" name="Text 47"/>
          <p:cNvSpPr/>
          <p:nvPr/>
        </p:nvSpPr>
        <p:spPr>
          <a:xfrm>
            <a:off x="5623560" y="212140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✎ ✖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6629400" y="822960"/>
            <a:ext cx="2446020" cy="2560320"/>
          </a:xfrm>
          <a:prstGeom prst="rect">
            <a:avLst/>
          </a:prstGeom>
          <a:solidFill>
            <a:srgbClr val="F2F7FA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1" name="Shape 49"/>
          <p:cNvSpPr/>
          <p:nvPr/>
        </p:nvSpPr>
        <p:spPr>
          <a:xfrm>
            <a:off x="6606539" y="835696"/>
            <a:ext cx="2446020" cy="2743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2" name="Text 50"/>
          <p:cNvSpPr/>
          <p:nvPr/>
        </p:nvSpPr>
        <p:spPr>
          <a:xfrm>
            <a:off x="5760720" y="813816"/>
            <a:ext cx="30632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Formulario de Instructor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6748272" y="1298448"/>
            <a:ext cx="2121408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4" name="Text 52"/>
          <p:cNvSpPr/>
          <p:nvPr/>
        </p:nvSpPr>
        <p:spPr>
          <a:xfrm>
            <a:off x="6830568" y="1298448"/>
            <a:ext cx="212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N.° de documento  |  Tipo [CC / CE / Pasaporte]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6748272" y="1773936"/>
            <a:ext cx="2121408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6" name="Text 54"/>
          <p:cNvSpPr/>
          <p:nvPr/>
        </p:nvSpPr>
        <p:spPr>
          <a:xfrm>
            <a:off x="6830568" y="1773936"/>
            <a:ext cx="1856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 completo</a:t>
            </a:r>
            <a:endParaRPr lang="en-US" sz="750" dirty="0"/>
          </a:p>
        </p:txBody>
      </p:sp>
      <p:sp>
        <p:nvSpPr>
          <p:cNvPr id="57" name="Shape 55"/>
          <p:cNvSpPr/>
          <p:nvPr/>
        </p:nvSpPr>
        <p:spPr>
          <a:xfrm>
            <a:off x="6748270" y="2249424"/>
            <a:ext cx="2121408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8" name="Text 56"/>
          <p:cNvSpPr/>
          <p:nvPr/>
        </p:nvSpPr>
        <p:spPr>
          <a:xfrm>
            <a:off x="6830568" y="2249424"/>
            <a:ext cx="1856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 de contrato  →  Límite: 40 h (Contratista) / 48 h (Planta)</a:t>
            </a:r>
            <a:endParaRPr lang="en-US" sz="750" dirty="0"/>
          </a:p>
        </p:txBody>
      </p:sp>
      <p:sp>
        <p:nvSpPr>
          <p:cNvPr id="59" name="Shape 57"/>
          <p:cNvSpPr/>
          <p:nvPr/>
        </p:nvSpPr>
        <p:spPr>
          <a:xfrm>
            <a:off x="6761986" y="2692255"/>
            <a:ext cx="2107694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0" name="Text 58"/>
          <p:cNvSpPr/>
          <p:nvPr/>
        </p:nvSpPr>
        <p:spPr>
          <a:xfrm>
            <a:off x="6830568" y="2692255"/>
            <a:ext cx="1856232" cy="3069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Especialidad  |  Email  |  Teléfono</a:t>
            </a:r>
            <a:endParaRPr lang="en-US" sz="750" dirty="0"/>
          </a:p>
        </p:txBody>
      </p:sp>
      <p:sp>
        <p:nvSpPr>
          <p:cNvPr id="61" name="Text 59"/>
          <p:cNvSpPr/>
          <p:nvPr/>
        </p:nvSpPr>
        <p:spPr>
          <a:xfrm>
            <a:off x="6761986" y="3072384"/>
            <a:ext cx="114757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Badges de Contrato: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6629400" y="3392424"/>
            <a:ext cx="1188720" cy="201168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  <p:txBody>
          <a:bodyPr/>
          <a:lstStyle/>
          <a:p>
            <a:endParaRPr lang="es-CO" dirty="0"/>
          </a:p>
        </p:txBody>
      </p:sp>
      <p:sp>
        <p:nvSpPr>
          <p:cNvPr id="63" name="Text 61"/>
          <p:cNvSpPr/>
          <p:nvPr/>
        </p:nvSpPr>
        <p:spPr>
          <a:xfrm>
            <a:off x="6029813" y="3282696"/>
            <a:ext cx="2369603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PLANTA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7818120" y="3392424"/>
            <a:ext cx="1234440" cy="201168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5" name="Text 63"/>
          <p:cNvSpPr/>
          <p:nvPr/>
        </p:nvSpPr>
        <p:spPr>
          <a:xfrm>
            <a:off x="7563394" y="3337560"/>
            <a:ext cx="155774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CONTRATISTA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320040" y="321868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 de Fichas</a:t>
            </a:r>
            <a:endParaRPr lang="en-US" sz="1100" dirty="0"/>
          </a:p>
        </p:txBody>
      </p:sp>
      <p:sp>
        <p:nvSpPr>
          <p:cNvPr id="67" name="Shape 65"/>
          <p:cNvSpPr/>
          <p:nvPr/>
        </p:nvSpPr>
        <p:spPr>
          <a:xfrm>
            <a:off x="320040" y="3520440"/>
            <a:ext cx="822960" cy="256032"/>
          </a:xfrm>
          <a:prstGeom prst="rect">
            <a:avLst/>
          </a:prstGeom>
          <a:solidFill>
            <a:srgbClr val="1E3A5F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8" name="Text 66"/>
          <p:cNvSpPr/>
          <p:nvPr/>
        </p:nvSpPr>
        <p:spPr>
          <a:xfrm>
            <a:off x="320040" y="352044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</a:t>
            </a:r>
            <a:endParaRPr lang="en-US" sz="800" dirty="0"/>
          </a:p>
        </p:txBody>
      </p:sp>
      <p:sp>
        <p:nvSpPr>
          <p:cNvPr id="69" name="Shape 67"/>
          <p:cNvSpPr/>
          <p:nvPr/>
        </p:nvSpPr>
        <p:spPr>
          <a:xfrm>
            <a:off x="1143000" y="3520440"/>
            <a:ext cx="1828800" cy="256032"/>
          </a:xfrm>
          <a:prstGeom prst="rect">
            <a:avLst/>
          </a:prstGeom>
          <a:solidFill>
            <a:srgbClr val="1E3A5F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0" name="Text 68"/>
          <p:cNvSpPr/>
          <p:nvPr/>
        </p:nvSpPr>
        <p:spPr>
          <a:xfrm>
            <a:off x="1143000" y="35204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</a:t>
            </a:r>
            <a:endParaRPr lang="en-US" sz="800" dirty="0"/>
          </a:p>
        </p:txBody>
      </p:sp>
      <p:sp>
        <p:nvSpPr>
          <p:cNvPr id="71" name="Shape 69"/>
          <p:cNvSpPr/>
          <p:nvPr/>
        </p:nvSpPr>
        <p:spPr>
          <a:xfrm>
            <a:off x="2971800" y="3520440"/>
            <a:ext cx="777240" cy="256032"/>
          </a:xfrm>
          <a:prstGeom prst="rect">
            <a:avLst/>
          </a:prstGeom>
          <a:solidFill>
            <a:srgbClr val="1E3A5F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2" name="Text 70"/>
          <p:cNvSpPr/>
          <p:nvPr/>
        </p:nvSpPr>
        <p:spPr>
          <a:xfrm>
            <a:off x="2971800" y="352044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Cohorte</a:t>
            </a:r>
            <a:endParaRPr lang="en-US" sz="800" dirty="0"/>
          </a:p>
        </p:txBody>
      </p:sp>
      <p:sp>
        <p:nvSpPr>
          <p:cNvPr id="73" name="Shape 71"/>
          <p:cNvSpPr/>
          <p:nvPr/>
        </p:nvSpPr>
        <p:spPr>
          <a:xfrm>
            <a:off x="3749040" y="3520440"/>
            <a:ext cx="822960" cy="256032"/>
          </a:xfrm>
          <a:prstGeom prst="rect">
            <a:avLst/>
          </a:prstGeom>
          <a:solidFill>
            <a:srgbClr val="1E3A5F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4" name="Text 72"/>
          <p:cNvSpPr/>
          <p:nvPr/>
        </p:nvSpPr>
        <p:spPr>
          <a:xfrm>
            <a:off x="3749040" y="352044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Aprendices</a:t>
            </a:r>
            <a:endParaRPr lang="en-US" sz="800" dirty="0"/>
          </a:p>
        </p:txBody>
      </p:sp>
      <p:sp>
        <p:nvSpPr>
          <p:cNvPr id="75" name="Shape 73"/>
          <p:cNvSpPr/>
          <p:nvPr/>
        </p:nvSpPr>
        <p:spPr>
          <a:xfrm>
            <a:off x="4572000" y="3520440"/>
            <a:ext cx="1234440" cy="256032"/>
          </a:xfrm>
          <a:prstGeom prst="rect">
            <a:avLst/>
          </a:prstGeom>
          <a:solidFill>
            <a:srgbClr val="1E3A5F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6" name="Text 74"/>
          <p:cNvSpPr/>
          <p:nvPr/>
        </p:nvSpPr>
        <p:spPr>
          <a:xfrm>
            <a:off x="4572000" y="3520440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Fechas</a:t>
            </a:r>
            <a:endParaRPr lang="en-US" sz="800" dirty="0"/>
          </a:p>
        </p:txBody>
      </p:sp>
      <p:sp>
        <p:nvSpPr>
          <p:cNvPr id="77" name="Shape 75"/>
          <p:cNvSpPr/>
          <p:nvPr/>
        </p:nvSpPr>
        <p:spPr>
          <a:xfrm>
            <a:off x="5806440" y="3520440"/>
            <a:ext cx="723029" cy="256032"/>
          </a:xfrm>
          <a:prstGeom prst="rect">
            <a:avLst/>
          </a:prstGeom>
          <a:solidFill>
            <a:srgbClr val="1E3A5F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8" name="Text 76"/>
          <p:cNvSpPr/>
          <p:nvPr/>
        </p:nvSpPr>
        <p:spPr>
          <a:xfrm>
            <a:off x="5806440" y="352044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Acciones</a:t>
            </a:r>
            <a:endParaRPr lang="en-US" sz="800" dirty="0"/>
          </a:p>
        </p:txBody>
      </p:sp>
      <p:sp>
        <p:nvSpPr>
          <p:cNvPr id="79" name="Shape 77"/>
          <p:cNvSpPr/>
          <p:nvPr/>
        </p:nvSpPr>
        <p:spPr>
          <a:xfrm>
            <a:off x="320040" y="3776472"/>
            <a:ext cx="82296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0" name="Text 78"/>
          <p:cNvSpPr/>
          <p:nvPr/>
        </p:nvSpPr>
        <p:spPr>
          <a:xfrm>
            <a:off x="320040" y="3776472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2310456</a:t>
            </a:r>
            <a:endParaRPr lang="en-US" sz="750" dirty="0"/>
          </a:p>
        </p:txBody>
      </p:sp>
      <p:sp>
        <p:nvSpPr>
          <p:cNvPr id="81" name="Shape 79"/>
          <p:cNvSpPr/>
          <p:nvPr/>
        </p:nvSpPr>
        <p:spPr>
          <a:xfrm>
            <a:off x="1143000" y="3776472"/>
            <a:ext cx="182880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2" name="Text 80"/>
          <p:cNvSpPr/>
          <p:nvPr/>
        </p:nvSpPr>
        <p:spPr>
          <a:xfrm>
            <a:off x="1143000" y="377647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Adm. de Empresas</a:t>
            </a:r>
            <a:endParaRPr lang="en-US" sz="750" dirty="0"/>
          </a:p>
        </p:txBody>
      </p:sp>
      <p:sp>
        <p:nvSpPr>
          <p:cNvPr id="83" name="Shape 81"/>
          <p:cNvSpPr/>
          <p:nvPr/>
        </p:nvSpPr>
        <p:spPr>
          <a:xfrm>
            <a:off x="2971800" y="3776472"/>
            <a:ext cx="77724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4" name="Text 82"/>
          <p:cNvSpPr/>
          <p:nvPr/>
        </p:nvSpPr>
        <p:spPr>
          <a:xfrm>
            <a:off x="2971800" y="3776472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2024-A</a:t>
            </a:r>
            <a:endParaRPr lang="en-US" sz="750" dirty="0"/>
          </a:p>
        </p:txBody>
      </p:sp>
      <p:sp>
        <p:nvSpPr>
          <p:cNvPr id="85" name="Shape 83"/>
          <p:cNvSpPr/>
          <p:nvPr/>
        </p:nvSpPr>
        <p:spPr>
          <a:xfrm>
            <a:off x="3749040" y="3776472"/>
            <a:ext cx="82296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6" name="Text 84"/>
          <p:cNvSpPr/>
          <p:nvPr/>
        </p:nvSpPr>
        <p:spPr>
          <a:xfrm>
            <a:off x="3749040" y="3776472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750" dirty="0"/>
          </a:p>
        </p:txBody>
      </p:sp>
      <p:sp>
        <p:nvSpPr>
          <p:cNvPr id="87" name="Shape 85"/>
          <p:cNvSpPr/>
          <p:nvPr/>
        </p:nvSpPr>
        <p:spPr>
          <a:xfrm>
            <a:off x="4572000" y="3776472"/>
            <a:ext cx="123444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8" name="Text 86"/>
          <p:cNvSpPr/>
          <p:nvPr/>
        </p:nvSpPr>
        <p:spPr>
          <a:xfrm>
            <a:off x="4572000" y="3776472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Ene–Jun 2025</a:t>
            </a:r>
            <a:endParaRPr lang="en-US" sz="750" dirty="0"/>
          </a:p>
        </p:txBody>
      </p:sp>
      <p:sp>
        <p:nvSpPr>
          <p:cNvPr id="89" name="Shape 87"/>
          <p:cNvSpPr/>
          <p:nvPr/>
        </p:nvSpPr>
        <p:spPr>
          <a:xfrm>
            <a:off x="5806440" y="3776472"/>
            <a:ext cx="723029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0" name="Text 88"/>
          <p:cNvSpPr/>
          <p:nvPr/>
        </p:nvSpPr>
        <p:spPr>
          <a:xfrm>
            <a:off x="5806440" y="377647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✎ ✖</a:t>
            </a:r>
            <a:endParaRPr lang="en-US" sz="750" dirty="0"/>
          </a:p>
        </p:txBody>
      </p:sp>
      <p:sp>
        <p:nvSpPr>
          <p:cNvPr id="91" name="Shape 89"/>
          <p:cNvSpPr/>
          <p:nvPr/>
        </p:nvSpPr>
        <p:spPr>
          <a:xfrm>
            <a:off x="320040" y="4050792"/>
            <a:ext cx="822960" cy="256032"/>
          </a:xfrm>
          <a:prstGeom prst="rect">
            <a:avLst/>
          </a:prstGeom>
          <a:solidFill>
            <a:srgbClr val="F2F7FA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2" name="Text 90"/>
          <p:cNvSpPr/>
          <p:nvPr/>
        </p:nvSpPr>
        <p:spPr>
          <a:xfrm>
            <a:off x="320040" y="4050792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1820321</a:t>
            </a:r>
            <a:endParaRPr lang="en-US" sz="750" dirty="0"/>
          </a:p>
        </p:txBody>
      </p:sp>
      <p:sp>
        <p:nvSpPr>
          <p:cNvPr id="93" name="Shape 91"/>
          <p:cNvSpPr/>
          <p:nvPr/>
        </p:nvSpPr>
        <p:spPr>
          <a:xfrm>
            <a:off x="1143000" y="4050792"/>
            <a:ext cx="1828800" cy="256032"/>
          </a:xfrm>
          <a:prstGeom prst="rect">
            <a:avLst/>
          </a:prstGeom>
          <a:solidFill>
            <a:srgbClr val="F2F7FA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4" name="Text 92"/>
          <p:cNvSpPr/>
          <p:nvPr/>
        </p:nvSpPr>
        <p:spPr>
          <a:xfrm>
            <a:off x="1143000" y="405079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Gráfico</a:t>
            </a:r>
            <a:endParaRPr lang="en-US" sz="750" dirty="0"/>
          </a:p>
        </p:txBody>
      </p:sp>
      <p:sp>
        <p:nvSpPr>
          <p:cNvPr id="95" name="Shape 93"/>
          <p:cNvSpPr/>
          <p:nvPr/>
        </p:nvSpPr>
        <p:spPr>
          <a:xfrm>
            <a:off x="2971800" y="4050792"/>
            <a:ext cx="777240" cy="256032"/>
          </a:xfrm>
          <a:prstGeom prst="rect">
            <a:avLst/>
          </a:prstGeom>
          <a:solidFill>
            <a:srgbClr val="F2F7FA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6" name="Text 94"/>
          <p:cNvSpPr/>
          <p:nvPr/>
        </p:nvSpPr>
        <p:spPr>
          <a:xfrm>
            <a:off x="2971800" y="4050792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2024-B</a:t>
            </a:r>
            <a:endParaRPr lang="en-US" sz="750" dirty="0"/>
          </a:p>
        </p:txBody>
      </p:sp>
      <p:sp>
        <p:nvSpPr>
          <p:cNvPr id="97" name="Shape 95"/>
          <p:cNvSpPr/>
          <p:nvPr/>
        </p:nvSpPr>
        <p:spPr>
          <a:xfrm>
            <a:off x="3749040" y="4050792"/>
            <a:ext cx="822960" cy="256032"/>
          </a:xfrm>
          <a:prstGeom prst="rect">
            <a:avLst/>
          </a:prstGeom>
          <a:solidFill>
            <a:srgbClr val="F2F7FA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8" name="Text 96"/>
          <p:cNvSpPr/>
          <p:nvPr/>
        </p:nvSpPr>
        <p:spPr>
          <a:xfrm>
            <a:off x="3749040" y="4050792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750" dirty="0"/>
          </a:p>
        </p:txBody>
      </p:sp>
      <p:sp>
        <p:nvSpPr>
          <p:cNvPr id="99" name="Shape 97"/>
          <p:cNvSpPr/>
          <p:nvPr/>
        </p:nvSpPr>
        <p:spPr>
          <a:xfrm>
            <a:off x="4572000" y="4050792"/>
            <a:ext cx="1234440" cy="256032"/>
          </a:xfrm>
          <a:prstGeom prst="rect">
            <a:avLst/>
          </a:prstGeom>
          <a:solidFill>
            <a:srgbClr val="F2F7FA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0" name="Text 98"/>
          <p:cNvSpPr/>
          <p:nvPr/>
        </p:nvSpPr>
        <p:spPr>
          <a:xfrm>
            <a:off x="4572000" y="4050792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Feb–Ago 2025</a:t>
            </a:r>
            <a:endParaRPr lang="en-US" sz="750" dirty="0"/>
          </a:p>
        </p:txBody>
      </p:sp>
      <p:sp>
        <p:nvSpPr>
          <p:cNvPr id="101" name="Shape 99"/>
          <p:cNvSpPr/>
          <p:nvPr/>
        </p:nvSpPr>
        <p:spPr>
          <a:xfrm>
            <a:off x="5806440" y="4050792"/>
            <a:ext cx="723029" cy="256032"/>
          </a:xfrm>
          <a:prstGeom prst="rect">
            <a:avLst/>
          </a:prstGeom>
          <a:solidFill>
            <a:srgbClr val="F2F7FA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2" name="Text 100"/>
          <p:cNvSpPr/>
          <p:nvPr/>
        </p:nvSpPr>
        <p:spPr>
          <a:xfrm>
            <a:off x="5806440" y="4050792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✎ ✖</a:t>
            </a:r>
            <a:endParaRPr lang="en-US" sz="750" dirty="0"/>
          </a:p>
        </p:txBody>
      </p:sp>
      <p:sp>
        <p:nvSpPr>
          <p:cNvPr id="103" name="Text 101"/>
          <p:cNvSpPr/>
          <p:nvPr/>
        </p:nvSpPr>
        <p:spPr>
          <a:xfrm>
            <a:off x="320040" y="443484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Formulario de Ficha: Código · Programa · Cohorte · N.° aprendices · Fechas de inicio y fin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7772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347472" y="0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Diapositiva 5  ·  Ambientes + Observaciones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858000" y="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Pantalla 05 / 05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0040" y="96012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 de Ambientes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1261872"/>
            <a:ext cx="1645920" cy="256032"/>
          </a:xfrm>
          <a:prstGeom prst="rect">
            <a:avLst/>
          </a:prstGeom>
          <a:solidFill>
            <a:srgbClr val="1E3A5F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320040" y="126187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965960" y="1261872"/>
            <a:ext cx="914400" cy="256032"/>
          </a:xfrm>
          <a:prstGeom prst="rect">
            <a:avLst/>
          </a:prstGeom>
          <a:solidFill>
            <a:srgbClr val="1E3A5F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Text 8"/>
          <p:cNvSpPr/>
          <p:nvPr/>
        </p:nvSpPr>
        <p:spPr>
          <a:xfrm>
            <a:off x="1965960" y="126187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Capacidad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880360" y="1261872"/>
            <a:ext cx="1280160" cy="256032"/>
          </a:xfrm>
          <a:prstGeom prst="rect">
            <a:avLst/>
          </a:prstGeom>
          <a:solidFill>
            <a:srgbClr val="1E3A5F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/>
          <p:nvPr/>
        </p:nvSpPr>
        <p:spPr>
          <a:xfrm>
            <a:off x="2880360" y="126187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160520" y="1261872"/>
            <a:ext cx="1280160" cy="256032"/>
          </a:xfrm>
          <a:prstGeom prst="rect">
            <a:avLst/>
          </a:prstGeom>
          <a:solidFill>
            <a:srgbClr val="1E3A5F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Text 12"/>
          <p:cNvSpPr/>
          <p:nvPr/>
        </p:nvSpPr>
        <p:spPr>
          <a:xfrm>
            <a:off x="4160520" y="126187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5440680" y="1261872"/>
            <a:ext cx="914400" cy="256032"/>
          </a:xfrm>
          <a:prstGeom prst="rect">
            <a:avLst/>
          </a:prstGeom>
          <a:solidFill>
            <a:srgbClr val="1E3A5F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6" name="Text 14"/>
          <p:cNvSpPr/>
          <p:nvPr/>
        </p:nvSpPr>
        <p:spPr>
          <a:xfrm>
            <a:off x="5440680" y="126187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Acciones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20040" y="1517904"/>
            <a:ext cx="164592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8" name="Text 16"/>
          <p:cNvSpPr/>
          <p:nvPr/>
        </p:nvSpPr>
        <p:spPr>
          <a:xfrm>
            <a:off x="320040" y="151790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3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1965960" y="1517904"/>
            <a:ext cx="91440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" name="Text 18"/>
          <p:cNvSpPr/>
          <p:nvPr/>
        </p:nvSpPr>
        <p:spPr>
          <a:xfrm>
            <a:off x="1965960" y="151790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2880360" y="1517904"/>
            <a:ext cx="128016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2" name="Text 20"/>
          <p:cNvSpPr/>
          <p:nvPr/>
        </p:nvSpPr>
        <p:spPr>
          <a:xfrm>
            <a:off x="2880360" y="1517904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4160520" y="1517904"/>
            <a:ext cx="128016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4" name="Shape 22"/>
          <p:cNvSpPr/>
          <p:nvPr/>
        </p:nvSpPr>
        <p:spPr>
          <a:xfrm>
            <a:off x="4233672" y="1554480"/>
            <a:ext cx="1115568" cy="18288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5" name="Text 23"/>
          <p:cNvSpPr/>
          <p:nvPr/>
        </p:nvSpPr>
        <p:spPr>
          <a:xfrm>
            <a:off x="4233672" y="1554480"/>
            <a:ext cx="11155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DISPONIBLE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5440680" y="1536192"/>
            <a:ext cx="91440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7" name="Text 25"/>
          <p:cNvSpPr/>
          <p:nvPr/>
        </p:nvSpPr>
        <p:spPr>
          <a:xfrm>
            <a:off x="5440680" y="151790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✎ ✖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320040" y="1792224"/>
            <a:ext cx="1645920" cy="256032"/>
          </a:xfrm>
          <a:prstGeom prst="rect">
            <a:avLst/>
          </a:prstGeom>
          <a:solidFill>
            <a:srgbClr val="F2F7FA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9" name="Text 27"/>
          <p:cNvSpPr/>
          <p:nvPr/>
        </p:nvSpPr>
        <p:spPr>
          <a:xfrm>
            <a:off x="320040" y="179222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2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1965960" y="1792224"/>
            <a:ext cx="914400" cy="256032"/>
          </a:xfrm>
          <a:prstGeom prst="rect">
            <a:avLst/>
          </a:prstGeom>
          <a:solidFill>
            <a:srgbClr val="F2F7FA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1" name="Text 29"/>
          <p:cNvSpPr/>
          <p:nvPr/>
        </p:nvSpPr>
        <p:spPr>
          <a:xfrm>
            <a:off x="1965960" y="179222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2880360" y="1792224"/>
            <a:ext cx="1280160" cy="256032"/>
          </a:xfrm>
          <a:prstGeom prst="rect">
            <a:avLst/>
          </a:prstGeom>
          <a:solidFill>
            <a:srgbClr val="F2F7FA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3" name="Text 31"/>
          <p:cNvSpPr/>
          <p:nvPr/>
        </p:nvSpPr>
        <p:spPr>
          <a:xfrm>
            <a:off x="2880360" y="1792224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4160520" y="1792224"/>
            <a:ext cx="1280160" cy="256032"/>
          </a:xfrm>
          <a:prstGeom prst="rect">
            <a:avLst/>
          </a:prstGeom>
          <a:solidFill>
            <a:srgbClr val="F2F7FA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5" name="Shape 33"/>
          <p:cNvSpPr/>
          <p:nvPr/>
        </p:nvSpPr>
        <p:spPr>
          <a:xfrm>
            <a:off x="4233672" y="1828800"/>
            <a:ext cx="1115568" cy="18288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6" name="Text 34"/>
          <p:cNvSpPr/>
          <p:nvPr/>
        </p:nvSpPr>
        <p:spPr>
          <a:xfrm>
            <a:off x="4233672" y="1828800"/>
            <a:ext cx="11155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MANTENIMIENTO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>
            <a:off x="5440680" y="1792224"/>
            <a:ext cx="914400" cy="256032"/>
          </a:xfrm>
          <a:prstGeom prst="rect">
            <a:avLst/>
          </a:prstGeom>
          <a:solidFill>
            <a:srgbClr val="F2F7FA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8" name="Text 36"/>
          <p:cNvSpPr/>
          <p:nvPr/>
        </p:nvSpPr>
        <p:spPr>
          <a:xfrm>
            <a:off x="5440680" y="179222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✎ ✖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320040" y="2066544"/>
            <a:ext cx="164592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0" name="Text 38"/>
          <p:cNvSpPr/>
          <p:nvPr/>
        </p:nvSpPr>
        <p:spPr>
          <a:xfrm>
            <a:off x="320040" y="206654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1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1965960" y="2066544"/>
            <a:ext cx="91440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2" name="Text 40"/>
          <p:cNvSpPr/>
          <p:nvPr/>
        </p:nvSpPr>
        <p:spPr>
          <a:xfrm>
            <a:off x="1965960" y="206654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2880360" y="2066544"/>
            <a:ext cx="128016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4" name="Text 42"/>
          <p:cNvSpPr/>
          <p:nvPr/>
        </p:nvSpPr>
        <p:spPr>
          <a:xfrm>
            <a:off x="2880360" y="2066544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Laboratorio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4160520" y="2066544"/>
            <a:ext cx="128016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6" name="Shape 44"/>
          <p:cNvSpPr/>
          <p:nvPr/>
        </p:nvSpPr>
        <p:spPr>
          <a:xfrm>
            <a:off x="4233672" y="2103120"/>
            <a:ext cx="1115568" cy="18288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7" name="Text 45"/>
          <p:cNvSpPr/>
          <p:nvPr/>
        </p:nvSpPr>
        <p:spPr>
          <a:xfrm>
            <a:off x="4233672" y="2103120"/>
            <a:ext cx="11155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DISPONIBLE</a:t>
            </a:r>
            <a:endParaRPr lang="en-US" sz="700" dirty="0"/>
          </a:p>
        </p:txBody>
      </p:sp>
      <p:sp>
        <p:nvSpPr>
          <p:cNvPr id="48" name="Shape 46"/>
          <p:cNvSpPr/>
          <p:nvPr/>
        </p:nvSpPr>
        <p:spPr>
          <a:xfrm>
            <a:off x="5440680" y="2066544"/>
            <a:ext cx="91440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9" name="Text 47"/>
          <p:cNvSpPr/>
          <p:nvPr/>
        </p:nvSpPr>
        <p:spPr>
          <a:xfrm>
            <a:off x="5440680" y="206654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✎ ✖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320040" y="2340864"/>
            <a:ext cx="1645920" cy="256032"/>
          </a:xfrm>
          <a:prstGeom prst="rect">
            <a:avLst/>
          </a:prstGeom>
          <a:solidFill>
            <a:srgbClr val="F2F7FA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1" name="Text 49"/>
          <p:cNvSpPr/>
          <p:nvPr/>
        </p:nvSpPr>
        <p:spPr>
          <a:xfrm>
            <a:off x="320040" y="234086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Auditorio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1965960" y="2340864"/>
            <a:ext cx="914400" cy="256032"/>
          </a:xfrm>
          <a:prstGeom prst="rect">
            <a:avLst/>
          </a:prstGeom>
          <a:solidFill>
            <a:srgbClr val="F2F7FA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3" name="Text 51"/>
          <p:cNvSpPr/>
          <p:nvPr/>
        </p:nvSpPr>
        <p:spPr>
          <a:xfrm>
            <a:off x="1965960" y="234086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2880360" y="2340864"/>
            <a:ext cx="1280160" cy="256032"/>
          </a:xfrm>
          <a:prstGeom prst="rect">
            <a:avLst/>
          </a:prstGeom>
          <a:solidFill>
            <a:srgbClr val="F2F7FA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5" name="Text 53"/>
          <p:cNvSpPr/>
          <p:nvPr/>
        </p:nvSpPr>
        <p:spPr>
          <a:xfrm>
            <a:off x="2880360" y="2340864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Auditorio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4160520" y="2340864"/>
            <a:ext cx="1280160" cy="256032"/>
          </a:xfrm>
          <a:prstGeom prst="rect">
            <a:avLst/>
          </a:prstGeom>
          <a:solidFill>
            <a:srgbClr val="F2F7FA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7" name="Shape 55"/>
          <p:cNvSpPr/>
          <p:nvPr/>
        </p:nvSpPr>
        <p:spPr>
          <a:xfrm>
            <a:off x="4233672" y="2377440"/>
            <a:ext cx="1115568" cy="182880"/>
          </a:xfrm>
          <a:prstGeom prst="rect">
            <a:avLst/>
          </a:prstGeom>
          <a:solidFill>
            <a:srgbClr val="95A5A6"/>
          </a:solidFill>
          <a:ln w="12700">
            <a:solidFill>
              <a:srgbClr val="95A5A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8" name="Text 56"/>
          <p:cNvSpPr/>
          <p:nvPr/>
        </p:nvSpPr>
        <p:spPr>
          <a:xfrm>
            <a:off x="4233672" y="2377440"/>
            <a:ext cx="11155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INACTIVO</a:t>
            </a:r>
            <a:endParaRPr lang="en-US" sz="700" dirty="0"/>
          </a:p>
        </p:txBody>
      </p:sp>
      <p:sp>
        <p:nvSpPr>
          <p:cNvPr id="59" name="Shape 57"/>
          <p:cNvSpPr/>
          <p:nvPr/>
        </p:nvSpPr>
        <p:spPr>
          <a:xfrm>
            <a:off x="5440680" y="2340864"/>
            <a:ext cx="914400" cy="256032"/>
          </a:xfrm>
          <a:prstGeom prst="rect">
            <a:avLst/>
          </a:prstGeom>
          <a:solidFill>
            <a:srgbClr val="F2F7FA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0" name="Text 58"/>
          <p:cNvSpPr/>
          <p:nvPr/>
        </p:nvSpPr>
        <p:spPr>
          <a:xfrm>
            <a:off x="5440680" y="234086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✎ ✖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320040" y="2779776"/>
            <a:ext cx="1554480" cy="219456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2" name="Text 60"/>
          <p:cNvSpPr/>
          <p:nvPr/>
        </p:nvSpPr>
        <p:spPr>
          <a:xfrm>
            <a:off x="320040" y="2779776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DISPONIBLE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2331720" y="2779776"/>
            <a:ext cx="1554480" cy="219456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4" name="Text 62"/>
          <p:cNvSpPr/>
          <p:nvPr/>
        </p:nvSpPr>
        <p:spPr>
          <a:xfrm>
            <a:off x="2331720" y="2779776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MANTENIMIENTO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>
            <a:off x="4343400" y="2779776"/>
            <a:ext cx="1554480" cy="219456"/>
          </a:xfrm>
          <a:prstGeom prst="rect">
            <a:avLst/>
          </a:prstGeom>
          <a:solidFill>
            <a:srgbClr val="95A5A6"/>
          </a:solidFill>
          <a:ln w="12700">
            <a:solidFill>
              <a:srgbClr val="95A5A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6" name="Text 64"/>
          <p:cNvSpPr/>
          <p:nvPr/>
        </p:nvSpPr>
        <p:spPr>
          <a:xfrm>
            <a:off x="4343400" y="2779776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INACTIVO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320040" y="3044952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Mantenimiento e Inactivo no aparecen en el selector de horarios</a:t>
            </a:r>
            <a:endParaRPr lang="en-US" sz="750" dirty="0"/>
          </a:p>
        </p:txBody>
      </p:sp>
      <p:sp>
        <p:nvSpPr>
          <p:cNvPr id="68" name="Shape 66"/>
          <p:cNvSpPr/>
          <p:nvPr/>
        </p:nvSpPr>
        <p:spPr>
          <a:xfrm>
            <a:off x="6399166" y="875538"/>
            <a:ext cx="2516234" cy="307597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69" name="Shape 67"/>
          <p:cNvSpPr/>
          <p:nvPr/>
        </p:nvSpPr>
        <p:spPr>
          <a:xfrm>
            <a:off x="6446520" y="924361"/>
            <a:ext cx="2340864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0" name="Text 68"/>
          <p:cNvSpPr/>
          <p:nvPr/>
        </p:nvSpPr>
        <p:spPr>
          <a:xfrm>
            <a:off x="5577840" y="914400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Observaciones  ·  AF-2310</a:t>
            </a:r>
            <a:endParaRPr lang="en-US" sz="950" dirty="0"/>
          </a:p>
        </p:txBody>
      </p:sp>
      <p:sp>
        <p:nvSpPr>
          <p:cNvPr id="71" name="Shape 69"/>
          <p:cNvSpPr/>
          <p:nvPr/>
        </p:nvSpPr>
        <p:spPr>
          <a:xfrm>
            <a:off x="6446520" y="1331759"/>
            <a:ext cx="583990" cy="184512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2" name="Text 70"/>
          <p:cNvSpPr/>
          <p:nvPr/>
        </p:nvSpPr>
        <p:spPr>
          <a:xfrm>
            <a:off x="6140766" y="1325879"/>
            <a:ext cx="1224726" cy="1903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CAMBIO</a:t>
            </a:r>
            <a:endParaRPr lang="en-US" sz="650" dirty="0"/>
          </a:p>
        </p:txBody>
      </p:sp>
      <p:sp>
        <p:nvSpPr>
          <p:cNvPr id="73" name="Shape 71"/>
          <p:cNvSpPr/>
          <p:nvPr/>
        </p:nvSpPr>
        <p:spPr>
          <a:xfrm>
            <a:off x="7080965" y="1333391"/>
            <a:ext cx="603910" cy="1828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4" name="Text 72"/>
          <p:cNvSpPr/>
          <p:nvPr/>
        </p:nvSpPr>
        <p:spPr>
          <a:xfrm>
            <a:off x="7080966" y="1325880"/>
            <a:ext cx="53271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INCIDENCIA</a:t>
            </a:r>
            <a:endParaRPr lang="en-US" sz="650" dirty="0"/>
          </a:p>
        </p:txBody>
      </p:sp>
      <p:sp>
        <p:nvSpPr>
          <p:cNvPr id="75" name="Shape 73"/>
          <p:cNvSpPr/>
          <p:nvPr/>
        </p:nvSpPr>
        <p:spPr>
          <a:xfrm>
            <a:off x="7730596" y="1335024"/>
            <a:ext cx="505534" cy="1828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6" name="Text 74"/>
          <p:cNvSpPr/>
          <p:nvPr/>
        </p:nvSpPr>
        <p:spPr>
          <a:xfrm>
            <a:off x="7847509" y="1338290"/>
            <a:ext cx="27170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</a:t>
            </a:r>
            <a:endParaRPr lang="en-US" sz="650" dirty="0"/>
          </a:p>
        </p:txBody>
      </p:sp>
      <p:sp>
        <p:nvSpPr>
          <p:cNvPr id="77" name="Shape 75"/>
          <p:cNvSpPr/>
          <p:nvPr/>
        </p:nvSpPr>
        <p:spPr>
          <a:xfrm>
            <a:off x="8281850" y="1325880"/>
            <a:ext cx="505534" cy="182880"/>
          </a:xfrm>
          <a:prstGeom prst="rect">
            <a:avLst/>
          </a:prstGeom>
          <a:solidFill>
            <a:srgbClr val="95A5A6"/>
          </a:solidFill>
          <a:ln w="12700">
            <a:solidFill>
              <a:srgbClr val="95A5A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8" name="Text 76"/>
          <p:cNvSpPr/>
          <p:nvPr/>
        </p:nvSpPr>
        <p:spPr>
          <a:xfrm>
            <a:off x="8281851" y="1325879"/>
            <a:ext cx="505533" cy="1828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CANCELACIÓN</a:t>
            </a:r>
            <a:endParaRPr lang="en-US" sz="650" dirty="0"/>
          </a:p>
        </p:txBody>
      </p:sp>
      <p:sp>
        <p:nvSpPr>
          <p:cNvPr id="79" name="Shape 77"/>
          <p:cNvSpPr/>
          <p:nvPr/>
        </p:nvSpPr>
        <p:spPr>
          <a:xfrm>
            <a:off x="6446521" y="1581583"/>
            <a:ext cx="2355880" cy="685800"/>
          </a:xfrm>
          <a:prstGeom prst="rect">
            <a:avLst/>
          </a:prstGeom>
          <a:solidFill>
            <a:srgbClr val="F2F7FA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s-CO" dirty="0"/>
          </a:p>
        </p:txBody>
      </p:sp>
      <p:sp>
        <p:nvSpPr>
          <p:cNvPr id="80" name="Shape 78"/>
          <p:cNvSpPr/>
          <p:nvPr/>
        </p:nvSpPr>
        <p:spPr>
          <a:xfrm>
            <a:off x="6492240" y="1609344"/>
            <a:ext cx="685800" cy="1828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CO" dirty="0"/>
          </a:p>
        </p:txBody>
      </p:sp>
      <p:sp>
        <p:nvSpPr>
          <p:cNvPr id="81" name="Text 79"/>
          <p:cNvSpPr/>
          <p:nvPr/>
        </p:nvSpPr>
        <p:spPr>
          <a:xfrm>
            <a:off x="5650991" y="1627632"/>
            <a:ext cx="234086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</a:t>
            </a:r>
            <a:endParaRPr lang="en-US" sz="650" dirty="0"/>
          </a:p>
        </p:txBody>
      </p:sp>
      <p:sp>
        <p:nvSpPr>
          <p:cNvPr id="82" name="Text 80"/>
          <p:cNvSpPr/>
          <p:nvPr/>
        </p:nvSpPr>
        <p:spPr>
          <a:xfrm>
            <a:off x="7391617" y="1575052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 González  ·  20 May 2025</a:t>
            </a:r>
            <a:endParaRPr lang="en-US" sz="750" dirty="0"/>
          </a:p>
        </p:txBody>
      </p:sp>
      <p:sp>
        <p:nvSpPr>
          <p:cNvPr id="83" name="Text 81"/>
          <p:cNvSpPr/>
          <p:nvPr/>
        </p:nvSpPr>
        <p:spPr>
          <a:xfrm>
            <a:off x="6492240" y="1847088"/>
            <a:ext cx="22128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reprogramada por feriado.</a:t>
            </a:r>
            <a:endParaRPr lang="en-US" sz="800" dirty="0"/>
          </a:p>
        </p:txBody>
      </p:sp>
      <p:sp>
        <p:nvSpPr>
          <p:cNvPr id="84" name="Shape 82"/>
          <p:cNvSpPr/>
          <p:nvPr/>
        </p:nvSpPr>
        <p:spPr>
          <a:xfrm>
            <a:off x="6446520" y="2404872"/>
            <a:ext cx="2355881" cy="685800"/>
          </a:xfrm>
          <a:prstGeom prst="rect">
            <a:avLst/>
          </a:prstGeom>
          <a:solidFill>
            <a:srgbClr val="F2F7FA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5" name="Shape 83"/>
          <p:cNvSpPr/>
          <p:nvPr/>
        </p:nvSpPr>
        <p:spPr>
          <a:xfrm>
            <a:off x="6515100" y="2441448"/>
            <a:ext cx="685800" cy="1828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6" name="Text 84"/>
          <p:cNvSpPr/>
          <p:nvPr/>
        </p:nvSpPr>
        <p:spPr>
          <a:xfrm>
            <a:off x="5989320" y="2404872"/>
            <a:ext cx="17412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INCIDENCIA</a:t>
            </a:r>
            <a:endParaRPr lang="en-US" sz="650" dirty="0"/>
          </a:p>
        </p:txBody>
      </p:sp>
      <p:sp>
        <p:nvSpPr>
          <p:cNvPr id="87" name="Text 85"/>
          <p:cNvSpPr/>
          <p:nvPr/>
        </p:nvSpPr>
        <p:spPr>
          <a:xfrm>
            <a:off x="7439296" y="2404872"/>
            <a:ext cx="124750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J. Pérez  ·  18 May 2025</a:t>
            </a:r>
            <a:endParaRPr lang="en-US" sz="750" dirty="0"/>
          </a:p>
        </p:txBody>
      </p:sp>
      <p:sp>
        <p:nvSpPr>
          <p:cNvPr id="88" name="Text 86"/>
          <p:cNvSpPr/>
          <p:nvPr/>
        </p:nvSpPr>
        <p:spPr>
          <a:xfrm>
            <a:off x="6492240" y="2624328"/>
            <a:ext cx="22128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Proyector sin funcionamiento. Se usó sala alterna.</a:t>
            </a:r>
            <a:endParaRPr lang="en-US" sz="800" dirty="0"/>
          </a:p>
        </p:txBody>
      </p:sp>
      <p:sp>
        <p:nvSpPr>
          <p:cNvPr id="89" name="Shape 87"/>
          <p:cNvSpPr/>
          <p:nvPr/>
        </p:nvSpPr>
        <p:spPr>
          <a:xfrm>
            <a:off x="6446520" y="3182112"/>
            <a:ext cx="2355880" cy="685800"/>
          </a:xfrm>
          <a:prstGeom prst="rect">
            <a:avLst/>
          </a:prstGeom>
          <a:solidFill>
            <a:srgbClr val="F2F7FA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0" name="Shape 88"/>
          <p:cNvSpPr/>
          <p:nvPr/>
        </p:nvSpPr>
        <p:spPr>
          <a:xfrm>
            <a:off x="6515100" y="3218688"/>
            <a:ext cx="685800" cy="182880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1" name="Text 89"/>
          <p:cNvSpPr/>
          <p:nvPr/>
        </p:nvSpPr>
        <p:spPr>
          <a:xfrm>
            <a:off x="6270172" y="3182112"/>
            <a:ext cx="122472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CAMBIO</a:t>
            </a:r>
            <a:endParaRPr lang="en-US" sz="650" dirty="0"/>
          </a:p>
        </p:txBody>
      </p:sp>
      <p:sp>
        <p:nvSpPr>
          <p:cNvPr id="92" name="Text 90"/>
          <p:cNvSpPr/>
          <p:nvPr/>
        </p:nvSpPr>
        <p:spPr>
          <a:xfrm>
            <a:off x="7439296" y="3182112"/>
            <a:ext cx="12475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 ·  15 May 2025</a:t>
            </a:r>
            <a:endParaRPr lang="en-US" sz="750" dirty="0"/>
          </a:p>
        </p:txBody>
      </p:sp>
      <p:sp>
        <p:nvSpPr>
          <p:cNvPr id="93" name="Text 91"/>
          <p:cNvSpPr/>
          <p:nvPr/>
        </p:nvSpPr>
        <p:spPr>
          <a:xfrm>
            <a:off x="6492240" y="3401568"/>
            <a:ext cx="22128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Cambio de instructor: L. Torres reemplaza a J. Pérez.</a:t>
            </a:r>
            <a:endParaRPr lang="en-US" sz="800" dirty="0"/>
          </a:p>
        </p:txBody>
      </p:sp>
      <p:sp>
        <p:nvSpPr>
          <p:cNvPr id="94" name="Shape 92"/>
          <p:cNvSpPr/>
          <p:nvPr/>
        </p:nvSpPr>
        <p:spPr>
          <a:xfrm>
            <a:off x="5577840" y="4296700"/>
            <a:ext cx="3332988" cy="482019"/>
          </a:xfrm>
          <a:prstGeom prst="rect">
            <a:avLst/>
          </a:prstGeom>
          <a:solidFill>
            <a:srgbClr val="E8F4F8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5" name="Text 93"/>
          <p:cNvSpPr/>
          <p:nvPr/>
        </p:nvSpPr>
        <p:spPr>
          <a:xfrm>
            <a:off x="5687568" y="4349930"/>
            <a:ext cx="3017520" cy="4287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  Nueva observación: Autor · Tipo · Texto (máx. 1000 c.) · Guardar</a:t>
            </a:r>
            <a:endParaRPr lang="en-US" sz="800" dirty="0"/>
          </a:p>
        </p:txBody>
      </p:sp>
      <p:sp>
        <p:nvSpPr>
          <p:cNvPr id="96" name="Text 94"/>
          <p:cNvSpPr/>
          <p:nvPr/>
        </p:nvSpPr>
        <p:spPr>
          <a:xfrm>
            <a:off x="320040" y="475488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Formulario de Ambiente: Nombre · Capacidad · Tipo (selector) · Estado (selector) · Descripción (opcional)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662</Words>
  <Application>Microsoft Office PowerPoint</Application>
  <PresentationFormat>Presentación en pantalla (16:9)</PresentationFormat>
  <Paragraphs>222</Paragraphs>
  <Slides>6</Slides>
  <Notes>6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SENA Schedule Manager - MVP Mockup</dc:title>
  <dc:subject>PptxGenJS Presentation</dc:subject>
  <dc:creator>PptxGenJS</dc:creator>
  <cp:lastModifiedBy>99A_10104118908</cp:lastModifiedBy>
  <cp:revision>4</cp:revision>
  <dcterms:created xsi:type="dcterms:W3CDTF">2026-05-23T14:58:20Z</dcterms:created>
  <dcterms:modified xsi:type="dcterms:W3CDTF">2026-05-23T15:46:27Z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fc111285-cafa-4fc9-8a9a-bd902089b24f_Enabled">
    <vt:lpwstr>true</vt:lpwstr>
  </property>
  <property fmtid="{D5CDD505-2E9C-101B-9397-08002B2CF9AE}" pid="3" name="MSIP_Label_fc111285-cafa-4fc9-8a9a-bd902089b24f_SetDate">
    <vt:lpwstr>2026-05-23T14:59:54Z</vt:lpwstr>
  </property>
  <property fmtid="{D5CDD505-2E9C-101B-9397-08002B2CF9AE}" pid="4" name="MSIP_Label_fc111285-cafa-4fc9-8a9a-bd902089b24f_Method">
    <vt:lpwstr>Privileged</vt:lpwstr>
  </property>
  <property fmtid="{D5CDD505-2E9C-101B-9397-08002B2CF9AE}" pid="5" name="MSIP_Label_fc111285-cafa-4fc9-8a9a-bd902089b24f_Name">
    <vt:lpwstr>Public</vt:lpwstr>
  </property>
  <property fmtid="{D5CDD505-2E9C-101B-9397-08002B2CF9AE}" pid="6" name="MSIP_Label_fc111285-cafa-4fc9-8a9a-bd902089b24f_SiteId">
    <vt:lpwstr>cbc2c381-2f2e-4d93-91d1-506c9316ace7</vt:lpwstr>
  </property>
  <property fmtid="{D5CDD505-2E9C-101B-9397-08002B2CF9AE}" pid="7" name="MSIP_Label_fc111285-cafa-4fc9-8a9a-bd902089b24f_ActionId">
    <vt:lpwstr>04db3e1b-bde7-4d88-9267-194f926408bd</vt:lpwstr>
  </property>
  <property fmtid="{D5CDD505-2E9C-101B-9397-08002B2CF9AE}" pid="8" name="MSIP_Label_fc111285-cafa-4fc9-8a9a-bd902089b24f_ContentBits">
    <vt:lpwstr>0</vt:lpwstr>
  </property>
  <property fmtid="{D5CDD505-2E9C-101B-9397-08002B2CF9AE}" pid="9" name="MSIP_Label_fc111285-cafa-4fc9-8a9a-bd902089b24f_Tag">
    <vt:lpwstr>10, 0, 1, 1</vt:lpwstr>
  </property>
</Properties>
</file>